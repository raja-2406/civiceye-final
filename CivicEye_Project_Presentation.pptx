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Cambria" panose="02040503050406030204" pitchFamily="18" charset="0"/>
        <a:sym typeface="Cambria" panose="02040503050406030204" pitchFamily="18" charset="0"/>
      </a:defRPr>
    </a:lvl1pPr>
    <a:lvl2pPr indent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Cambria" panose="02040503050406030204" pitchFamily="18" charset="0"/>
        <a:sym typeface="Cambria" panose="02040503050406030204" pitchFamily="18" charset="0"/>
      </a:defRPr>
    </a:lvl2pPr>
    <a:lvl3pPr indent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Cambria" panose="02040503050406030204" pitchFamily="18" charset="0"/>
        <a:sym typeface="Cambria" panose="02040503050406030204" pitchFamily="18" charset="0"/>
      </a:defRPr>
    </a:lvl3pPr>
    <a:lvl4pPr indent="1371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Cambria" panose="02040503050406030204" pitchFamily="18" charset="0"/>
        <a:sym typeface="Cambria" panose="02040503050406030204" pitchFamily="18" charset="0"/>
      </a:defRPr>
    </a:lvl4pPr>
    <a:lvl5pPr indent="1828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Cambria" panose="02040503050406030204" pitchFamily="18" charset="0"/>
        <a:sym typeface="Cambria" panose="02040503050406030204" pitchFamily="18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Cambria" panose="02040503050406030204" pitchFamily="18" charset="0"/>
        <a:sym typeface="Cambria" panose="02040503050406030204" pitchFamily="18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Cambria" panose="02040503050406030204" pitchFamily="18" charset="0"/>
        <a:sym typeface="Cambria" panose="02040503050406030204" pitchFamily="18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Cambria" panose="02040503050406030204" pitchFamily="18" charset="0"/>
        <a:sym typeface="Cambria" panose="02040503050406030204" pitchFamily="18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Cambria" panose="02040503050406030204" pitchFamily="18" charset="0"/>
        <a:sym typeface="Cambria" panose="02040503050406030204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FDC"/>
          </a:solidFill>
        </a:fill>
      </a:tcStyle>
    </a:wholeTbl>
    <a:band2H>
      <a:tcTxStyle/>
      <a:tcStyle>
        <a:tcBdr/>
        <a:fill>
          <a:solidFill>
            <a:srgbClr val="E7E9EE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CCDF"/>
          </a:solidFill>
        </a:fill>
      </a:tcStyle>
    </a:wholeTbl>
    <a:band2H>
      <a:tcTxStyle/>
      <a:tcStyle>
        <a:tcBdr/>
        <a:fill>
          <a:solidFill>
            <a:srgbClr val="EBE7F0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D7D7"/>
          </a:solidFill>
        </a:fill>
      </a:tcStyle>
    </a:wholeTbl>
    <a:band2H>
      <a:tcTxStyle/>
      <a:tcStyle>
        <a:tcBdr/>
        <a:fill>
          <a:solidFill>
            <a:srgbClr val="ECECEC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hape 34">
            <a:extLst>
              <a:ext uri="{FF2B5EF4-FFF2-40B4-BE49-F238E27FC236}">
                <a16:creationId xmlns:a16="http://schemas.microsoft.com/office/drawing/2014/main" id="{5F4398B3-160F-C279-F5AE-BCE8F1A0DD7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5" name="Shape 35">
            <a:extLst>
              <a:ext uri="{FF2B5EF4-FFF2-40B4-BE49-F238E27FC236}">
                <a16:creationId xmlns:a16="http://schemas.microsoft.com/office/drawing/2014/main" id="{4AF6603B-4878-A44A-6C4C-FE71D68FE420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Cambria" panose="02040503050406030204" pitchFamily="18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Cambria" panose="02040503050406030204" pitchFamily="18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Cambria" panose="02040503050406030204" pitchFamily="18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Cambria" panose="02040503050406030204" pitchFamily="18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Cambria" panose="02040503050406030204" pitchFamily="18" charset="0"/>
      </a:defRPr>
    </a:lvl5pPr>
    <a:lvl6pPr indent="1143000" latinLnBrk="0">
      <a:defRPr sz="1200">
        <a:latin typeface="+mn-lt"/>
        <a:ea typeface="+mn-ea"/>
        <a:cs typeface="+mn-cs"/>
        <a:sym typeface="Cambria"/>
      </a:defRPr>
    </a:lvl6pPr>
    <a:lvl7pPr indent="1371600" latinLnBrk="0">
      <a:defRPr sz="1200">
        <a:latin typeface="+mn-lt"/>
        <a:ea typeface="+mn-ea"/>
        <a:cs typeface="+mn-cs"/>
        <a:sym typeface="Cambria"/>
      </a:defRPr>
    </a:lvl7pPr>
    <a:lvl8pPr indent="1600200" latinLnBrk="0">
      <a:defRPr sz="1200">
        <a:latin typeface="+mn-lt"/>
        <a:ea typeface="+mn-ea"/>
        <a:cs typeface="+mn-cs"/>
        <a:sym typeface="Cambria"/>
      </a:defRPr>
    </a:lvl8pPr>
    <a:lvl9pPr indent="1828800" latinLnBrk="0">
      <a:defRPr sz="1200">
        <a:latin typeface="+mn-lt"/>
        <a:ea typeface="+mn-ea"/>
        <a:cs typeface="+mn-cs"/>
        <a:sym typeface="Cambria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CE30D7CD-B697-84DB-AF33-F6482FBE367D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6A3A3C-65F1-4A70-A76F-3E3768F435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752299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E88F2B9E-8BE8-3C5F-5EA0-48D613B1FC69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CA2F67-3A8A-4FAB-BA23-4BF9E5AD59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784059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FB0BCC-C684-0069-16BA-D8BF67099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6426200"/>
            <a:ext cx="2286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1"/>
            <a:r>
              <a:rPr lang="en-US" altLang="en-US" sz="1200">
                <a:solidFill>
                  <a:srgbClr val="7F7F7F"/>
                </a:solidFill>
              </a:rPr>
              <a:t>09-10-2026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9CCDB8-B111-1C8F-570E-6B273A325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5975" y="6413500"/>
            <a:ext cx="54864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/>
            <a:r>
              <a:rPr lang="en-US" altLang="en-US" sz="1400">
                <a:solidFill>
                  <a:srgbClr val="385623"/>
                </a:solidFill>
              </a:rPr>
              <a:t>SECOND REVIEW PRESENTATION</a:t>
            </a:r>
          </a:p>
        </p:txBody>
      </p:sp>
      <p:sp>
        <p:nvSpPr>
          <p:cNvPr id="27" name="Click to add title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4553" cy="77724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A0D61B0-5D27-7E11-10FD-9787CADC56FF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11522075" y="6354763"/>
            <a:ext cx="273050" cy="269875"/>
          </a:xfrm>
        </p:spPr>
        <p:txBody>
          <a:bodyPr/>
          <a:lstStyle>
            <a:lvl1pPr>
              <a:defRPr/>
            </a:lvl1pPr>
          </a:lstStyle>
          <a:p>
            <a:fld id="{DE543DCB-C6D1-4B31-AF83-D6D83E495F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3699530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Text">
            <a:extLst>
              <a:ext uri="{FF2B5EF4-FFF2-40B4-BE49-F238E27FC236}">
                <a16:creationId xmlns:a16="http://schemas.microsoft.com/office/drawing/2014/main" id="{5CCE33FB-15E1-AD8E-927B-B931702854D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609600" y="92075"/>
            <a:ext cx="109728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45719" tIns="45720" rIns="45719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Cambria" panose="02040503050406030204" pitchFamily="18" charset="0"/>
              </a:rPr>
              <a:t>Title Text</a:t>
            </a:r>
          </a:p>
        </p:txBody>
      </p:sp>
      <p:sp>
        <p:nvSpPr>
          <p:cNvPr id="1027" name="Body Level One…">
            <a:extLst>
              <a:ext uri="{FF2B5EF4-FFF2-40B4-BE49-F238E27FC236}">
                <a16:creationId xmlns:a16="http://schemas.microsoft.com/office/drawing/2014/main" id="{98E06DC2-9BFB-326C-E566-4F7198741BE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45719" tIns="45720" rIns="45719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Cambria" panose="02040503050406030204" pitchFamily="18" charset="0"/>
              </a:rPr>
              <a:t>Body Level One</a:t>
            </a:r>
          </a:p>
          <a:p>
            <a:pPr lvl="1"/>
            <a:r>
              <a:rPr lang="en-US" altLang="en-US">
                <a:sym typeface="Cambria" panose="02040503050406030204" pitchFamily="18" charset="0"/>
              </a:rPr>
              <a:t>Body Level Two</a:t>
            </a:r>
          </a:p>
          <a:p>
            <a:pPr lvl="2"/>
            <a:r>
              <a:rPr lang="en-US" altLang="en-US">
                <a:sym typeface="Cambria" panose="02040503050406030204" pitchFamily="18" charset="0"/>
              </a:rPr>
              <a:t>Body Level Three</a:t>
            </a:r>
          </a:p>
          <a:p>
            <a:pPr lvl="3"/>
            <a:r>
              <a:rPr lang="en-US" altLang="en-US">
                <a:sym typeface="Cambria" panose="02040503050406030204" pitchFamily="18" charset="0"/>
              </a:rPr>
              <a:t>Body Level Four</a:t>
            </a:r>
          </a:p>
          <a:p>
            <a:pPr lvl="4"/>
            <a:r>
              <a:rPr lang="en-US" altLang="en-US">
                <a:sym typeface="Cambria" panose="02040503050406030204" pitchFamily="18" charset="0"/>
              </a:rPr>
              <a:t>Body Level Five</a:t>
            </a:r>
          </a:p>
        </p:txBody>
      </p:sp>
      <p:sp>
        <p:nvSpPr>
          <p:cNvPr id="1028" name="Slide Number">
            <a:extLst>
              <a:ext uri="{FF2B5EF4-FFF2-40B4-BE49-F238E27FC236}">
                <a16:creationId xmlns:a16="http://schemas.microsoft.com/office/drawing/2014/main" id="{16B876A5-C8C0-E5F4-42BE-1EB2F8068964}"/>
              </a:ext>
            </a:extLst>
          </p:cNvPr>
          <p:cNvSpPr txBox="1">
            <a:spLocks noGrp="1" noChangeArrowheads="1"/>
          </p:cNvSpPr>
          <p:nvPr>
            <p:ph type="sldNum" sz="quarter" idx="2"/>
          </p:nvPr>
        </p:nvSpPr>
        <p:spPr bwMode="auto">
          <a:xfrm>
            <a:off x="5892800" y="6356350"/>
            <a:ext cx="2844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45719" tIns="45720" rIns="45719" bIns="45720" numCol="1" anchor="t" anchorCtr="0" compatLnSpc="1">
            <a:prstTxWarp prst="textNoShape">
              <a:avLst/>
            </a:prstTxWarp>
            <a:spAutoFit/>
          </a:bodyPr>
          <a:lstStyle>
            <a:lvl1pPr algn="r" eaLnBrk="1">
              <a:defRPr sz="1200">
                <a:solidFill>
                  <a:srgbClr val="7F7F7F"/>
                </a:solidFill>
              </a:defRPr>
            </a:lvl1pPr>
          </a:lstStyle>
          <a:p>
            <a:fld id="{BF48E28B-74E9-420B-9D9F-1E4F3904898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n-lt"/>
          <a:ea typeface="+mn-ea"/>
          <a:cs typeface="+mn-cs"/>
          <a:sym typeface="Cambria" panose="020405030504060302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n-lt"/>
          <a:ea typeface="+mn-ea"/>
          <a:cs typeface="+mn-cs"/>
          <a:sym typeface="Cambria" panose="020405030504060302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n-lt"/>
          <a:ea typeface="+mn-ea"/>
          <a:cs typeface="+mn-cs"/>
          <a:sym typeface="Cambria" panose="020405030504060302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n-lt"/>
          <a:ea typeface="+mn-ea"/>
          <a:cs typeface="+mn-cs"/>
          <a:sym typeface="Cambria" panose="020405030504060302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n-lt"/>
          <a:ea typeface="+mn-ea"/>
          <a:cs typeface="+mn-cs"/>
          <a:sym typeface="Cambria" panose="02040503050406030204" pitchFamily="18" charset="0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mbr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mbr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mbr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mbria"/>
        </a:defRPr>
      </a:lvl9pPr>
    </p:titleStyle>
    <p:bodyStyle>
      <a:lvl1pPr marL="342900" indent="-342900" algn="l" rtl="0" eaLnBrk="0" fontAlgn="base" hangingPunct="0">
        <a:spcBef>
          <a:spcPts val="700"/>
        </a:spcBef>
        <a:spcAft>
          <a:spcPct val="0"/>
        </a:spcAft>
        <a:buSzPct val="100000"/>
        <a:buFont typeface="Arial" panose="020B0604020202020204" pitchFamily="34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Cambria" panose="02040503050406030204" pitchFamily="18" charset="0"/>
        </a:defRPr>
      </a:lvl1pPr>
      <a:lvl2pPr marL="782638" indent="-325438" algn="l" rtl="0" eaLnBrk="0" fontAlgn="base" hangingPunct="0">
        <a:spcBef>
          <a:spcPts val="700"/>
        </a:spcBef>
        <a:spcAft>
          <a:spcPct val="0"/>
        </a:spcAft>
        <a:buSzPct val="100000"/>
        <a:buFont typeface="Arial" panose="020B0604020202020204" pitchFamily="34" charset="0"/>
        <a:buChar char="–"/>
        <a:defRPr sz="3200">
          <a:solidFill>
            <a:srgbClr val="000000"/>
          </a:solidFill>
          <a:latin typeface="+mn-lt"/>
          <a:ea typeface="+mn-ea"/>
          <a:cs typeface="+mn-cs"/>
          <a:sym typeface="Cambria" panose="02040503050406030204" pitchFamily="18" charset="0"/>
        </a:defRPr>
      </a:lvl2pPr>
      <a:lvl3pPr marL="1219200" indent="-304800" algn="l" rtl="0" eaLnBrk="0" fontAlgn="base" hangingPunct="0">
        <a:spcBef>
          <a:spcPts val="700"/>
        </a:spcBef>
        <a:spcAft>
          <a:spcPct val="0"/>
        </a:spcAft>
        <a:buSzPct val="100000"/>
        <a:buFont typeface="Arial" panose="020B0604020202020204" pitchFamily="34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Cambria" panose="02040503050406030204" pitchFamily="18" charset="0"/>
        </a:defRPr>
      </a:lvl3pPr>
      <a:lvl4pPr marL="1736725" indent="-365125" algn="l" rtl="0" eaLnBrk="0" fontAlgn="base" hangingPunct="0">
        <a:spcBef>
          <a:spcPts val="700"/>
        </a:spcBef>
        <a:spcAft>
          <a:spcPct val="0"/>
        </a:spcAft>
        <a:buSzPct val="100000"/>
        <a:buFont typeface="Arial" panose="020B0604020202020204" pitchFamily="34" charset="0"/>
        <a:buChar char="–"/>
        <a:defRPr sz="3200">
          <a:solidFill>
            <a:srgbClr val="000000"/>
          </a:solidFill>
          <a:latin typeface="+mn-lt"/>
          <a:ea typeface="+mn-ea"/>
          <a:cs typeface="+mn-cs"/>
          <a:sym typeface="Cambria" panose="02040503050406030204" pitchFamily="18" charset="0"/>
        </a:defRPr>
      </a:lvl4pPr>
      <a:lvl5pPr marL="2193925" indent="-365125" algn="l" rtl="0" eaLnBrk="0" fontAlgn="base" hangingPunct="0">
        <a:spcBef>
          <a:spcPts val="700"/>
        </a:spcBef>
        <a:spcAft>
          <a:spcPct val="0"/>
        </a:spcAft>
        <a:buSzPct val="100000"/>
        <a:buFont typeface="Arial" panose="020B0604020202020204" pitchFamily="34" charset="0"/>
        <a:buChar char="»"/>
        <a:defRPr sz="3200">
          <a:solidFill>
            <a:srgbClr val="000000"/>
          </a:solidFill>
          <a:latin typeface="+mn-lt"/>
          <a:ea typeface="+mn-ea"/>
          <a:cs typeface="+mn-cs"/>
          <a:sym typeface="Cambria" panose="02040503050406030204" pitchFamily="18" charset="0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mbria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mbria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mbria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nstitution header" descr="Institution header">
            <a:extLst>
              <a:ext uri="{FF2B5EF4-FFF2-40B4-BE49-F238E27FC236}">
                <a16:creationId xmlns:a16="http://schemas.microsoft.com/office/drawing/2014/main" id="{98D0C888-BD8B-13B3-493C-296980CA4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488" y="73025"/>
            <a:ext cx="7680325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8" name="Review heading">
            <a:extLst>
              <a:ext uri="{FF2B5EF4-FFF2-40B4-BE49-F238E27FC236}">
                <a16:creationId xmlns:a16="http://schemas.microsoft.com/office/drawing/2014/main" id="{DCB9FC50-6E38-4CF1-F12A-E39A893B83AF}"/>
              </a:ext>
            </a:extLst>
          </p:cNvPr>
          <p:cNvSpPr txBox="1"/>
          <p:nvPr/>
        </p:nvSpPr>
        <p:spPr>
          <a:xfrm>
            <a:off x="2441575" y="1463675"/>
            <a:ext cx="7315200" cy="8763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 sz="2000"/>
            </a:pPr>
            <a:r>
              <a:rPr sz="2000" kern="0">
                <a:latin typeface="+mn-lt"/>
                <a:ea typeface="+mn-ea"/>
                <a:cs typeface="+mn-cs"/>
                <a:sym typeface="Cambria"/>
              </a:rPr>
              <a:t>Academic Year 2026 - 27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accent5"/>
                </a:solidFill>
              </a:defRPr>
            </a:pPr>
            <a:r>
              <a:rPr sz="2000" kern="0">
                <a:solidFill>
                  <a:schemeClr val="accent5"/>
                </a:solidFill>
                <a:latin typeface="+mn-lt"/>
                <a:ea typeface="+mn-ea"/>
                <a:cs typeface="+mn-cs"/>
                <a:sym typeface="Cambria"/>
              </a:rPr>
              <a:t>S7 PROJECT WORK I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 sz="2000"/>
            </a:pPr>
            <a:r>
              <a:rPr sz="2000" kern="0">
                <a:latin typeface="+mn-lt"/>
                <a:ea typeface="+mn-ea"/>
                <a:cs typeface="+mn-cs"/>
                <a:sym typeface="Cambria"/>
              </a:rPr>
              <a:t>Second Review</a:t>
            </a:r>
          </a:p>
        </p:txBody>
      </p:sp>
      <p:sp>
        <p:nvSpPr>
          <p:cNvPr id="4100" name="Project title">
            <a:extLst>
              <a:ext uri="{FF2B5EF4-FFF2-40B4-BE49-F238E27FC236}">
                <a16:creationId xmlns:a16="http://schemas.microsoft.com/office/drawing/2014/main" id="{508A19C6-C792-290B-F90A-8C7444CDF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714625"/>
            <a:ext cx="9445625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 wrap="square">
            <a:spAutoFit/>
          </a:bodyPr>
          <a:lstStyle/>
          <a:p>
            <a:pPr algn="ctr" eaLnBrk="1"/>
            <a:r>
              <a:rPr lang="en-US" altLang="en-US" sz="2500" b="1">
                <a:solidFill>
                  <a:srgbClr val="385623"/>
                </a:solidFill>
              </a:rPr>
              <a:t>CivicEye: Crowdsourced Civic Issue Reporting and Intelligent Resolution System</a:t>
            </a:r>
          </a:p>
        </p:txBody>
      </p:sp>
      <p:sp>
        <p:nvSpPr>
          <p:cNvPr id="4101" name="Project ID">
            <a:extLst>
              <a:ext uri="{FF2B5EF4-FFF2-40B4-BE49-F238E27FC236}">
                <a16:creationId xmlns:a16="http://schemas.microsoft.com/office/drawing/2014/main" id="{D5266D1C-499F-C03C-7E65-F76691875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86200"/>
            <a:ext cx="53038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eaLnBrk="1">
              <a:spcBef>
                <a:spcPts val="200"/>
              </a:spcBef>
            </a:pPr>
            <a:r>
              <a:rPr lang="en-US" altLang="en-US" sz="2000">
                <a:solidFill>
                  <a:schemeClr val="accent1"/>
                </a:solidFill>
              </a:rPr>
              <a:t>BIP PROJECT ID</a:t>
            </a:r>
          </a:p>
          <a:p>
            <a:pPr algn="ctr" eaLnBrk="1"/>
            <a:r>
              <a:rPr lang="en-US" altLang="en-US"/>
              <a:t>2026AC296</a:t>
            </a:r>
          </a:p>
        </p:txBody>
      </p:sp>
      <p:sp>
        <p:nvSpPr>
          <p:cNvPr id="41" name="Category">
            <a:extLst>
              <a:ext uri="{FF2B5EF4-FFF2-40B4-BE49-F238E27FC236}">
                <a16:creationId xmlns:a16="http://schemas.microsoft.com/office/drawing/2014/main" id="{4CD16464-7106-1D6F-583B-A1E3216D6D5F}"/>
              </a:ext>
            </a:extLst>
          </p:cNvPr>
          <p:cNvSpPr txBox="1"/>
          <p:nvPr/>
        </p:nvSpPr>
        <p:spPr>
          <a:xfrm>
            <a:off x="6126163" y="3886200"/>
            <a:ext cx="5578475" cy="584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eaLnBrk="1" fontAlgn="auto">
              <a:spcBef>
                <a:spcPts val="200"/>
              </a:spcBef>
              <a:spcAft>
                <a:spcPts val="0"/>
              </a:spcAft>
              <a:defRPr sz="2000">
                <a:solidFill>
                  <a:schemeClr val="accent1"/>
                </a:solidFill>
              </a:defRPr>
            </a:pPr>
            <a:r>
              <a:rPr sz="2000" kern="0">
                <a:solidFill>
                  <a:schemeClr val="accent1"/>
                </a:solidFill>
                <a:latin typeface="+mn-lt"/>
                <a:ea typeface="+mn-ea"/>
                <a:cs typeface="+mn-cs"/>
                <a:sym typeface="Cambria"/>
              </a:rPr>
              <a:t>CATEGORY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accent5"/>
                </a:solidFill>
              </a:defRPr>
            </a:pPr>
            <a:r>
              <a:rPr kern="0">
                <a:solidFill>
                  <a:schemeClr val="accent5"/>
                </a:solidFill>
                <a:latin typeface="+mn-lt"/>
                <a:ea typeface="+mn-ea"/>
                <a:cs typeface="+mn-cs"/>
                <a:sym typeface="Cambria"/>
              </a:rPr>
              <a:t>INTERNAL</a:t>
            </a:r>
          </a:p>
        </p:txBody>
      </p:sp>
      <p:sp>
        <p:nvSpPr>
          <p:cNvPr id="42" name="Batch members">
            <a:extLst>
              <a:ext uri="{FF2B5EF4-FFF2-40B4-BE49-F238E27FC236}">
                <a16:creationId xmlns:a16="http://schemas.microsoft.com/office/drawing/2014/main" id="{81BC3BA7-5266-9214-047C-591CE0FAA702}"/>
              </a:ext>
            </a:extLst>
          </p:cNvPr>
          <p:cNvSpPr txBox="1"/>
          <p:nvPr/>
        </p:nvSpPr>
        <p:spPr>
          <a:xfrm>
            <a:off x="457200" y="4846638"/>
            <a:ext cx="5303838" cy="116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eaLnBrk="1" fontAlgn="auto">
              <a:spcBef>
                <a:spcPts val="200"/>
              </a:spcBef>
              <a:spcAft>
                <a:spcPts val="0"/>
              </a:spcAft>
              <a:defRPr sz="2000">
                <a:solidFill>
                  <a:schemeClr val="accent4"/>
                </a:solidFill>
              </a:defRPr>
            </a:pPr>
            <a:r>
              <a:rPr sz="2000" kern="0">
                <a:solidFill>
                  <a:schemeClr val="accent4"/>
                </a:solidFill>
                <a:latin typeface="+mn-lt"/>
                <a:ea typeface="+mn-ea"/>
                <a:cs typeface="+mn-cs"/>
                <a:sym typeface="Cambria"/>
              </a:rPr>
              <a:t>BATCH MEMBERS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accent3"/>
                </a:solidFill>
              </a:defRPr>
            </a:pPr>
            <a:r>
              <a:rPr sz="2000" kern="0">
                <a:solidFill>
                  <a:schemeClr val="accent3"/>
                </a:solidFill>
                <a:latin typeface="+mn-lt"/>
                <a:ea typeface="+mn-ea"/>
                <a:cs typeface="+mn-cs"/>
                <a:sym typeface="Cambria"/>
              </a:rPr>
              <a:t>RAJAGOPAL S</a:t>
            </a:r>
            <a:r>
              <a:rPr kern="0">
                <a:solidFill>
                  <a:schemeClr val="accent3"/>
                </a:solidFill>
                <a:latin typeface="+mn-lt"/>
                <a:ea typeface="+mn-ea"/>
                <a:cs typeface="+mn-cs"/>
                <a:sym typeface="Cambria"/>
              </a:rPr>
              <a:t> (7376232CB139)</a:t>
            </a:r>
            <a:endParaRPr sz="2000" kern="0">
              <a:solidFill>
                <a:schemeClr val="accent3"/>
              </a:solidFill>
              <a:latin typeface="+mn-lt"/>
              <a:ea typeface="+mn-ea"/>
              <a:cs typeface="+mn-cs"/>
              <a:sym typeface="Cambria"/>
            </a:endParaRP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accent3"/>
                </a:solidFill>
              </a:defRPr>
            </a:pPr>
            <a:r>
              <a:rPr kern="0">
                <a:solidFill>
                  <a:schemeClr val="accent3"/>
                </a:solidFill>
                <a:latin typeface="+mn-lt"/>
                <a:ea typeface="+mn-ea"/>
                <a:cs typeface="+mn-cs"/>
                <a:sym typeface="Cambria"/>
              </a:rPr>
              <a:t> ARUN RAJAN N M (7376232CB103)</a:t>
            </a:r>
            <a:endParaRPr sz="2000" kern="0">
              <a:solidFill>
                <a:schemeClr val="accent3"/>
              </a:solidFill>
              <a:latin typeface="+mn-lt"/>
              <a:ea typeface="+mn-ea"/>
              <a:cs typeface="+mn-cs"/>
              <a:sym typeface="Cambria"/>
            </a:endParaRP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accent3"/>
                </a:solidFill>
              </a:defRPr>
            </a:pPr>
            <a:r>
              <a:rPr sz="2000" kern="0">
                <a:solidFill>
                  <a:schemeClr val="accent3"/>
                </a:solidFill>
                <a:latin typeface="+mn-lt"/>
                <a:ea typeface="+mn-ea"/>
                <a:cs typeface="+mn-cs"/>
                <a:sym typeface="Cambria"/>
              </a:rPr>
              <a:t>FIRZAAN I</a:t>
            </a:r>
            <a:r>
              <a:rPr kern="0">
                <a:solidFill>
                  <a:schemeClr val="accent3"/>
                </a:solidFill>
                <a:latin typeface="+mn-lt"/>
                <a:ea typeface="+mn-ea"/>
                <a:cs typeface="+mn-cs"/>
                <a:sym typeface="Cambria"/>
              </a:rPr>
              <a:t> (7376232CB105)</a:t>
            </a:r>
          </a:p>
        </p:txBody>
      </p:sp>
      <p:sp>
        <p:nvSpPr>
          <p:cNvPr id="43" name="Guide">
            <a:extLst>
              <a:ext uri="{FF2B5EF4-FFF2-40B4-BE49-F238E27FC236}">
                <a16:creationId xmlns:a16="http://schemas.microsoft.com/office/drawing/2014/main" id="{F3D6ABA2-701C-D7E2-7B74-10CD970B6CC3}"/>
              </a:ext>
            </a:extLst>
          </p:cNvPr>
          <p:cNvSpPr txBox="1"/>
          <p:nvPr/>
        </p:nvSpPr>
        <p:spPr>
          <a:xfrm>
            <a:off x="6126163" y="4846638"/>
            <a:ext cx="5578475" cy="1143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eaLnBrk="1" fontAlgn="auto">
              <a:spcBef>
                <a:spcPts val="200"/>
              </a:spcBef>
              <a:spcAft>
                <a:spcPts val="0"/>
              </a:spcAft>
              <a:defRPr sz="2000">
                <a:solidFill>
                  <a:schemeClr val="accent4"/>
                </a:solidFill>
              </a:defRPr>
            </a:pPr>
            <a:r>
              <a:rPr sz="2000" kern="0">
                <a:solidFill>
                  <a:schemeClr val="accent4"/>
                </a:solidFill>
                <a:latin typeface="+mn-lt"/>
                <a:ea typeface="+mn-ea"/>
                <a:cs typeface="+mn-cs"/>
                <a:sym typeface="Cambria"/>
              </a:rPr>
              <a:t>GUIDE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accent3"/>
                </a:solidFill>
              </a:defRPr>
            </a:pPr>
            <a:r>
              <a:rPr sz="2000" kern="0">
                <a:solidFill>
                  <a:schemeClr val="accent3"/>
                </a:solidFill>
                <a:latin typeface="+mn-lt"/>
                <a:ea typeface="+mn-ea"/>
                <a:cs typeface="+mn-cs"/>
                <a:sym typeface="Cambria"/>
              </a:rPr>
              <a:t>DR DEEPA PRIYA B S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accent3"/>
                </a:solidFill>
              </a:defRPr>
            </a:pPr>
            <a:r>
              <a:rPr kern="0">
                <a:solidFill>
                  <a:schemeClr val="accent3"/>
                </a:solidFill>
                <a:latin typeface="+mn-lt"/>
                <a:ea typeface="+mn-ea"/>
                <a:cs typeface="+mn-cs"/>
                <a:sym typeface="Cambria"/>
              </a:rPr>
              <a:t>Associate Professor</a:t>
            </a:r>
            <a:endParaRPr sz="2000" kern="0">
              <a:solidFill>
                <a:schemeClr val="accent3"/>
              </a:solidFill>
              <a:latin typeface="+mn-lt"/>
              <a:ea typeface="+mn-ea"/>
              <a:cs typeface="+mn-cs"/>
              <a:sym typeface="Cambria"/>
            </a:endParaRP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accent3"/>
                </a:solidFill>
              </a:defRPr>
            </a:pPr>
            <a:r>
              <a:rPr kern="0">
                <a:solidFill>
                  <a:schemeClr val="accent3"/>
                </a:solidFill>
                <a:latin typeface="+mn-lt"/>
                <a:ea typeface="+mn-ea"/>
                <a:cs typeface="+mn-cs"/>
                <a:sym typeface="Cambria"/>
              </a:rPr>
              <a:t>Department of Computer Science And Engineering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2">
            <a:extLst>
              <a:ext uri="{FF2B5EF4-FFF2-40B4-BE49-F238E27FC236}">
                <a16:creationId xmlns:a16="http://schemas.microsoft.com/office/drawing/2014/main" id="{D8B23809-F315-FB26-455D-BAD1720A6E7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PROJECT WORK PLAN</a:t>
            </a:r>
          </a:p>
        </p:txBody>
      </p:sp>
      <p:graphicFrame>
        <p:nvGraphicFramePr>
          <p:cNvPr id="46" name="Work plan table">
            <a:extLst>
              <a:ext uri="{FF2B5EF4-FFF2-40B4-BE49-F238E27FC236}">
                <a16:creationId xmlns:a16="http://schemas.microsoft.com/office/drawing/2014/main" id="{A2B2E8DC-1FEF-3D1B-565A-02085584C7F3}"/>
              </a:ext>
            </a:extLst>
          </p:cNvPr>
          <p:cNvGraphicFramePr/>
          <p:nvPr/>
        </p:nvGraphicFramePr>
        <p:xfrm>
          <a:off x="457200" y="1235075"/>
          <a:ext cx="11274425" cy="429736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743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chemeClr val="accent1"/>
                          </a:solidFill>
                        </a:rPr>
                        <a:t>Phase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chemeClr val="accent1"/>
                          </a:solidFill>
                        </a:rPr>
                        <a:t>Work carried out / to be carried out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18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95959"/>
                          </a:solidFill>
                        </a:rPr>
                        <a:t>Requirements and design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Studied existing municipal grievance platforms; finalized system architecture, database schema, REST API endpoints, and screen layouts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85623"/>
                          </a:solidFill>
                        </a:rPr>
                        <a:t>Completed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95959"/>
                          </a:solidFill>
                        </a:rPr>
                        <a:t>Core development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REST API with JWT authentication &amp; RBAC; Citizen, Verifier, Dept Head and Admin dashboards; geospatial duplicate detection (10m); deterministic priority calculation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85623"/>
                          </a:solidFill>
                        </a:rPr>
                        <a:t>Completed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95959"/>
                          </a:solidFill>
                        </a:rPr>
                        <a:t>Advanced modules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NLP municipal classification (300+ civic terms), real-time live routing UI, autonomous verifier dispatch &amp; queue-draining engine with 60s background sweeper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85623"/>
                          </a:solidFill>
                        </a:rPr>
                        <a:t>Completed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74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95959"/>
                          </a:solidFill>
                        </a:rPr>
                        <a:t>Testing and deployment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System integration testing, responsive mobile/tablet layout validation, live camera WebRTC capture, and cloud CI/CD deployment on Render &amp; MongoDB Atlas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85623"/>
                          </a:solidFill>
                        </a:rPr>
                        <a:t>Completed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74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95959"/>
                          </a:solidFill>
                        </a:rPr>
                        <a:t>Documentation and publication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Comprehensive project report (Chapters 1-6), API specification, user manual, and conference/journal manuscript preparation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85623"/>
                          </a:solidFill>
                        </a:rPr>
                        <a:t>Completed</a:t>
                      </a:r>
                    </a:p>
                  </a:txBody>
                  <a:tcPr marL="45719" marR="45719" marT="45717" marB="45717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" name="Slide Number Placeholder 0">
            <a:extLst>
              <a:ext uri="{FF2B5EF4-FFF2-40B4-BE49-F238E27FC236}">
                <a16:creationId xmlns:a16="http://schemas.microsoft.com/office/drawing/2014/main" id="{C4B0D4EC-3C6F-BED2-6CCE-9F8B509B8E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07800" y="6354763"/>
            <a:ext cx="187325" cy="269875"/>
          </a:xfrm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48671326-D863-4BFC-8731-9FCE1E6AB392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2">
            <a:extLst>
              <a:ext uri="{FF2B5EF4-FFF2-40B4-BE49-F238E27FC236}">
                <a16:creationId xmlns:a16="http://schemas.microsoft.com/office/drawing/2014/main" id="{5B98A9AF-1FBC-F392-2FD9-1738BDABA95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EFFECTIVE UTILIZATION OF THE MODERN TOOL</a:t>
            </a:r>
          </a:p>
        </p:txBody>
      </p:sp>
      <p:sp>
        <p:nvSpPr>
          <p:cNvPr id="50" name="Tools left">
            <a:extLst>
              <a:ext uri="{FF2B5EF4-FFF2-40B4-BE49-F238E27FC236}">
                <a16:creationId xmlns:a16="http://schemas.microsoft.com/office/drawing/2014/main" id="{15DDF9D4-F43A-2504-EAFD-0DDE6D2AFC03}"/>
              </a:ext>
            </a:extLst>
          </p:cNvPr>
          <p:cNvSpPr txBox="1"/>
          <p:nvPr/>
        </p:nvSpPr>
        <p:spPr>
          <a:xfrm>
            <a:off x="457200" y="1189038"/>
            <a:ext cx="5486400" cy="34559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400"/>
              </a:spcBef>
              <a:spcAft>
                <a:spcPts val="0"/>
              </a:spcAft>
              <a:defRPr sz="2400">
                <a:solidFill>
                  <a:schemeClr val="accent2"/>
                </a:solidFill>
              </a:defRPr>
            </a:pPr>
            <a:r>
              <a:rPr sz="1800" kern="0" b="1">
                <a:solidFill>
                  <a:srgbClr val="990000"/>
                </a:solidFill>
                <a:latin typeface="+mn-lt"/>
                <a:ea typeface="+mn-ea"/>
                <a:cs typeface="+mn-cs"/>
                <a:sym typeface="Cambria"/>
              </a:rPr>
              <a:t>Frontend and mapping</a:t>
            </a:r>
          </a:p>
          <a:p>
            <a:r>
              <a:rPr sz="1300" b="0"/>
              <a:t>• React.js 18 with Vite and Tailwind CSS for responsive role-based dashboards</a:t>
            </a:r>
          </a:p>
          <a:p>
            <a:r>
              <a:rPr sz="1300" b="0"/>
              <a:t>• Leaflet.js map with reverse geocoding to capture precise incident coordinates</a:t>
            </a:r>
          </a:p>
          <a:p>
            <a:r>
              <a:rPr sz="1300" b="0"/>
              <a:t>• HTML5 WebRTC live camera modal and click-to-zoom image lightbox</a:t>
            </a:r>
          </a:p>
          <a:p>
            <a:r>
              <a:rPr sz="1300" b="0"/>
              <a:t>• Axios with request/response interceptors and React Context API for state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7030A0"/>
                </a:solidFill>
              </a:rPr>
              <a:t>Backend and data</a:t>
            </a:r>
          </a:p>
          <a:p>
            <a:r>
              <a:rPr sz="1300" b="0"/>
              <a:t>• Node.js and Express REST APIs with modular MVC and ES Modules architecture</a:t>
            </a:r>
          </a:p>
          <a:p>
            <a:r>
              <a:rPr sz="1300" b="0"/>
              <a:t>• MongoDB Atlas cloud database with Mongoose ODM for complaints and users</a:t>
            </a:r>
          </a:p>
          <a:p>
            <a:r>
              <a:rPr sz="1300" b="0"/>
              <a:t>• Cloudinary Media CDN for high-reliability complaint and proof image storage</a:t>
            </a:r>
          </a:p>
        </p:txBody>
      </p:sp>
      <p:sp>
        <p:nvSpPr>
          <p:cNvPr id="51" name="Tools right">
            <a:extLst>
              <a:ext uri="{FF2B5EF4-FFF2-40B4-BE49-F238E27FC236}">
                <a16:creationId xmlns:a16="http://schemas.microsoft.com/office/drawing/2014/main" id="{92B9B34F-9B95-D574-3852-969E77C3876F}"/>
              </a:ext>
            </a:extLst>
          </p:cNvPr>
          <p:cNvSpPr txBox="1"/>
          <p:nvPr/>
        </p:nvSpPr>
        <p:spPr>
          <a:xfrm>
            <a:off x="6308725" y="1189038"/>
            <a:ext cx="5395913" cy="34051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400"/>
              </a:spcBef>
              <a:spcAft>
                <a:spcPts val="0"/>
              </a:spcAft>
              <a:defRPr sz="2400">
                <a:solidFill>
                  <a:schemeClr val="accent4"/>
                </a:solidFill>
              </a:defRPr>
            </a:pPr>
            <a:r>
              <a:rPr sz="1800" kern="0" b="1">
                <a:solidFill>
                  <a:srgbClr val="385623"/>
                </a:solidFill>
                <a:latin typeface="+mn-lt"/>
                <a:ea typeface="+mn-ea"/>
                <a:cs typeface="+mn-cs"/>
                <a:sym typeface="Cambria"/>
              </a:rPr>
              <a:t>AI and language processing</a:t>
            </a:r>
          </a:p>
          <a:p>
            <a:r>
              <a:rPr sz="1300" b="0"/>
              <a:t>• Rule-based NLP classifier with 300+ civic terms and concept co-occurrence</a:t>
            </a:r>
          </a:p>
          <a:p>
            <a:r>
              <a:rPr sz="1300" b="0"/>
              <a:t>• Google Gemini 1.5 Flash API integration for AI triage with graceful fallback</a:t>
            </a:r>
          </a:p>
          <a:p>
            <a:r>
              <a:rPr sz="1300" b="0"/>
              <a:t>• Geospatial proximity (10m) and text similarity for duplicate detection</a:t>
            </a:r>
          </a:p>
          <a:p>
            <a:r>
              <a:rPr sz="1300" b="0"/>
              <a:t>• Autonomous verifier dispatch engine with 60-second periodic background sweeper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990000"/>
                </a:solidFill>
              </a:rPr>
              <a:t>Security and Deployment</a:t>
            </a:r>
          </a:p>
          <a:p>
            <a:r>
              <a:rPr sz="1300" b="0"/>
              <a:t>• JWT session authorization, bcrypt password hashing, and role-based access</a:t>
            </a:r>
          </a:p>
          <a:p>
            <a:r>
              <a:rPr sz="1300" b="0"/>
              <a:t>• OTP-based email verification for secure citizen identity validation</a:t>
            </a:r>
          </a:p>
          <a:p>
            <a:r>
              <a:rPr sz="1300" b="0"/>
              <a:t>• Render cloud deployment with automated CI/CD pipeline triggered from GitHub</a:t>
            </a:r>
          </a:p>
        </p:txBody>
      </p:sp>
      <p:sp>
        <p:nvSpPr>
          <p:cNvPr id="52" name="Slide Number Placeholder 0">
            <a:extLst>
              <a:ext uri="{FF2B5EF4-FFF2-40B4-BE49-F238E27FC236}">
                <a16:creationId xmlns:a16="http://schemas.microsoft.com/office/drawing/2014/main" id="{F91301CA-459B-45F6-A4C2-0E26F80F2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07800" y="6354763"/>
            <a:ext cx="187325" cy="269875"/>
          </a:xfrm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DC6ECAD-EAAA-4491-9A6E-A2E514561F81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3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2">
            <a:extLst>
              <a:ext uri="{FF2B5EF4-FFF2-40B4-BE49-F238E27FC236}">
                <a16:creationId xmlns:a16="http://schemas.microsoft.com/office/drawing/2014/main" id="{B5A548E2-E634-E229-15C2-1207E0376BD5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PROPOSED METHODOLOGY ( Flow Chart)</a:t>
            </a:r>
          </a:p>
        </p:txBody>
      </p:sp>
      <p:grpSp>
        <p:nvGrpSpPr>
          <p:cNvPr id="7171" name="Start">
            <a:extLst>
              <a:ext uri="{FF2B5EF4-FFF2-40B4-BE49-F238E27FC236}">
                <a16:creationId xmlns:a16="http://schemas.microsoft.com/office/drawing/2014/main" id="{EF55BE91-8402-2B19-3ECA-EBF57447B590}"/>
              </a:ext>
            </a:extLst>
          </p:cNvPr>
          <p:cNvGrpSpPr>
            <a:grpSpLocks/>
          </p:cNvGrpSpPr>
          <p:nvPr/>
        </p:nvGrpSpPr>
        <p:grpSpPr bwMode="auto">
          <a:xfrm>
            <a:off x="630238" y="1417638"/>
            <a:ext cx="1784350" cy="1189037"/>
            <a:chOff x="0" y="0"/>
            <a:chExt cx="1783080" cy="1188719"/>
          </a:xfrm>
        </p:grpSpPr>
        <p:sp>
          <p:nvSpPr>
            <p:cNvPr id="7205" name="Oval">
              <a:extLst>
                <a:ext uri="{FF2B5EF4-FFF2-40B4-BE49-F238E27FC236}">
                  <a16:creationId xmlns:a16="http://schemas.microsoft.com/office/drawing/2014/main" id="{6616E55B-F13A-B00C-E759-8DD0ADEDD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0"/>
              <a:ext cx="1783082" cy="1188720"/>
            </a:xfrm>
            <a:prstGeom prst="ellipse">
              <a:avLst/>
            </a:prstGeom>
            <a:solidFill>
              <a:srgbClr val="D9E2F3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lIns="45719" tIns="45719" rIns="45719" bIns="45719" anchor="ctr"/>
            <a:lstStyle/>
            <a:p>
              <a:pPr algn="ctr" eaLnBrk="1"/>
              <a:endParaRPr lang="en-US" altLang="en-US" sz="1400"/>
            </a:p>
          </p:txBody>
        </p:sp>
        <p:sp>
          <p:nvSpPr>
            <p:cNvPr id="7206" name="Start">
              <a:extLst>
                <a:ext uri="{FF2B5EF4-FFF2-40B4-BE49-F238E27FC236}">
                  <a16:creationId xmlns:a16="http://schemas.microsoft.com/office/drawing/2014/main" id="{113BDE4C-9E05-4B5A-5935-06FDDE91B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650" y="491997"/>
              <a:ext cx="1241779" cy="20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761" tIns="761" rIns="761" bIns="761" anchor="ctr">
              <a:spAutoFit/>
            </a:bodyPr>
            <a:lstStyle/>
            <a:p>
              <a:pPr algn="ctr" eaLnBrk="1"/>
              <a:r>
                <a:rPr lang="en-US" altLang="en-US" sz="1400"/>
                <a:t>Start</a:t>
              </a:r>
            </a:p>
          </p:txBody>
        </p:sp>
      </p:grpSp>
      <p:grpSp>
        <p:nvGrpSpPr>
          <p:cNvPr id="7172" name="Submit">
            <a:extLst>
              <a:ext uri="{FF2B5EF4-FFF2-40B4-BE49-F238E27FC236}">
                <a16:creationId xmlns:a16="http://schemas.microsoft.com/office/drawing/2014/main" id="{A3AC7544-76B4-A548-E031-68912CB56DF1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1417638"/>
            <a:ext cx="1784350" cy="1189037"/>
            <a:chOff x="0" y="0"/>
            <a:chExt cx="1783078" cy="1188719"/>
          </a:xfrm>
        </p:grpSpPr>
        <p:sp>
          <p:nvSpPr>
            <p:cNvPr id="7203" name="Rectangle">
              <a:extLst>
                <a:ext uri="{FF2B5EF4-FFF2-40B4-BE49-F238E27FC236}">
                  <a16:creationId xmlns:a16="http://schemas.microsoft.com/office/drawing/2014/main" id="{F2C79512-EB49-4490-5D4B-A7398AB16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83079" cy="11887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lIns="45719" tIns="45719" rIns="45719" bIns="45719" anchor="ctr"/>
            <a:lstStyle/>
            <a:p>
              <a:pPr algn="ctr" eaLnBrk="1"/>
              <a:endParaRPr lang="en-US" altLang="en-US" sz="1400"/>
            </a:p>
          </p:txBody>
        </p:sp>
        <p:sp>
          <p:nvSpPr>
            <p:cNvPr id="7204" name="Citizen registers (OTP, JWT) and submits complaint with location and evidence">
              <a:extLst>
                <a:ext uri="{FF2B5EF4-FFF2-40B4-BE49-F238E27FC236}">
                  <a16:creationId xmlns:a16="http://schemas.microsoft.com/office/drawing/2014/main" id="{943C0944-3464-8437-A5D1-2876240B9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" y="187198"/>
              <a:ext cx="1764029" cy="8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761" tIns="761" rIns="761" bIns="761" anchor="ctr">
              <a:spAutoFit/>
            </a:bodyPr>
            <a:lstStyle/>
            <a:p>
              <a:pPr algn="ctr" eaLnBrk="1"/>
              <a:r>
                <a:rPr lang="en-US" altLang="en-US" sz="1400"/>
                <a:t>Citizen registers (OTP, JWT) and submits complaint with location and evidence</a:t>
              </a:r>
            </a:p>
          </p:txBody>
        </p:sp>
      </p:grpSp>
      <p:grpSp>
        <p:nvGrpSpPr>
          <p:cNvPr id="7173" name="Duplicates">
            <a:extLst>
              <a:ext uri="{FF2B5EF4-FFF2-40B4-BE49-F238E27FC236}">
                <a16:creationId xmlns:a16="http://schemas.microsoft.com/office/drawing/2014/main" id="{BE7A5022-3075-05D0-8477-53B60BFE1AEB}"/>
              </a:ext>
            </a:extLst>
          </p:cNvPr>
          <p:cNvGrpSpPr>
            <a:grpSpLocks/>
          </p:cNvGrpSpPr>
          <p:nvPr/>
        </p:nvGrpSpPr>
        <p:grpSpPr bwMode="auto">
          <a:xfrm>
            <a:off x="5202238" y="1417638"/>
            <a:ext cx="1784350" cy="1189037"/>
            <a:chOff x="0" y="0"/>
            <a:chExt cx="1783078" cy="1188719"/>
          </a:xfrm>
        </p:grpSpPr>
        <p:sp>
          <p:nvSpPr>
            <p:cNvPr id="7201" name="Rectangle">
              <a:extLst>
                <a:ext uri="{FF2B5EF4-FFF2-40B4-BE49-F238E27FC236}">
                  <a16:creationId xmlns:a16="http://schemas.microsoft.com/office/drawing/2014/main" id="{D1E1F15A-5277-1CCE-1E8D-9894520F5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83079" cy="11887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lIns="45719" tIns="45719" rIns="45719" bIns="45719" anchor="ctr"/>
            <a:lstStyle/>
            <a:p>
              <a:pPr algn="ctr" eaLnBrk="1"/>
              <a:endParaRPr lang="en-US" altLang="en-US" sz="1400"/>
            </a:p>
          </p:txBody>
        </p:sp>
        <p:sp>
          <p:nvSpPr>
            <p:cNvPr id="7202" name="Duplicate check: embeddings, location proximity, image fingerprint">
              <a:extLst>
                <a:ext uri="{FF2B5EF4-FFF2-40B4-BE49-F238E27FC236}">
                  <a16:creationId xmlns:a16="http://schemas.microsoft.com/office/drawing/2014/main" id="{F5D61E3E-73B8-7BB5-636D-6091189745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" y="187198"/>
              <a:ext cx="1764029" cy="8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761" tIns="761" rIns="761" bIns="761" anchor="ctr">
              <a:spAutoFit/>
            </a:bodyPr>
            <a:lstStyle/>
            <a:p>
              <a:pPr algn="ctr" eaLnBrk="1"/>
              <a:r>
                <a:rPr lang="en-US" altLang="en-US" sz="1400"/>
                <a:t>Duplicate check: embeddings, location proximity, image fingerprint</a:t>
              </a:r>
            </a:p>
          </p:txBody>
        </p:sp>
      </p:grpSp>
      <p:grpSp>
        <p:nvGrpSpPr>
          <p:cNvPr id="7174" name="Classify">
            <a:extLst>
              <a:ext uri="{FF2B5EF4-FFF2-40B4-BE49-F238E27FC236}">
                <a16:creationId xmlns:a16="http://schemas.microsoft.com/office/drawing/2014/main" id="{F7E067EA-98C7-9100-E017-9DDF59A97B9C}"/>
              </a:ext>
            </a:extLst>
          </p:cNvPr>
          <p:cNvGrpSpPr>
            <a:grpSpLocks/>
          </p:cNvGrpSpPr>
          <p:nvPr/>
        </p:nvGrpSpPr>
        <p:grpSpPr bwMode="auto">
          <a:xfrm>
            <a:off x="7488238" y="1417638"/>
            <a:ext cx="1784350" cy="1189037"/>
            <a:chOff x="0" y="0"/>
            <a:chExt cx="1783078" cy="1188719"/>
          </a:xfrm>
        </p:grpSpPr>
        <p:sp>
          <p:nvSpPr>
            <p:cNvPr id="7199" name="Rectangle">
              <a:extLst>
                <a:ext uri="{FF2B5EF4-FFF2-40B4-BE49-F238E27FC236}">
                  <a16:creationId xmlns:a16="http://schemas.microsoft.com/office/drawing/2014/main" id="{F7C8D43A-154D-773B-BD48-F0119F157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83079" cy="11887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lIns="45719" tIns="45719" rIns="45719" bIns="45719" anchor="ctr"/>
            <a:lstStyle/>
            <a:p>
              <a:pPr algn="ctr" eaLnBrk="1"/>
              <a:endParaRPr lang="en-US" altLang="en-US" sz="1400"/>
            </a:p>
          </p:txBody>
        </p:sp>
        <p:sp>
          <p:nvSpPr>
            <p:cNvPr id="7200" name="AI classification, severity prediction and priority calculation">
              <a:extLst>
                <a:ext uri="{FF2B5EF4-FFF2-40B4-BE49-F238E27FC236}">
                  <a16:creationId xmlns:a16="http://schemas.microsoft.com/office/drawing/2014/main" id="{0B86D574-2A8A-7FDB-343F-2DE30CBF2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" y="288797"/>
              <a:ext cx="1764029" cy="61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761" tIns="761" rIns="761" bIns="761" anchor="ctr">
              <a:spAutoFit/>
            </a:bodyPr>
            <a:lstStyle/>
            <a:p>
              <a:pPr algn="ctr" eaLnBrk="1"/>
              <a:r>
                <a:rPr lang="en-US" altLang="en-US" sz="1400"/>
                <a:t>AI classification, severity prediction and priority calculation</a:t>
              </a:r>
            </a:p>
          </p:txBody>
        </p:sp>
      </p:grpSp>
      <p:grpSp>
        <p:nvGrpSpPr>
          <p:cNvPr id="7175" name="Route">
            <a:extLst>
              <a:ext uri="{FF2B5EF4-FFF2-40B4-BE49-F238E27FC236}">
                <a16:creationId xmlns:a16="http://schemas.microsoft.com/office/drawing/2014/main" id="{BCEB0AED-0AA8-E654-F428-0BBCA0C3767C}"/>
              </a:ext>
            </a:extLst>
          </p:cNvPr>
          <p:cNvGrpSpPr>
            <a:grpSpLocks/>
          </p:cNvGrpSpPr>
          <p:nvPr/>
        </p:nvGrpSpPr>
        <p:grpSpPr bwMode="auto">
          <a:xfrm>
            <a:off x="9774238" y="1417638"/>
            <a:ext cx="1784350" cy="1189037"/>
            <a:chOff x="0" y="0"/>
            <a:chExt cx="1783078" cy="1188719"/>
          </a:xfrm>
        </p:grpSpPr>
        <p:sp>
          <p:nvSpPr>
            <p:cNvPr id="7197" name="Rectangle">
              <a:extLst>
                <a:ext uri="{FF2B5EF4-FFF2-40B4-BE49-F238E27FC236}">
                  <a16:creationId xmlns:a16="http://schemas.microsoft.com/office/drawing/2014/main" id="{B0BB535D-4AAF-F005-15FA-D73764B5C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83079" cy="11887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lIns="45719" tIns="45719" rIns="45719" bIns="45719" anchor="ctr"/>
            <a:lstStyle/>
            <a:p>
              <a:pPr algn="ctr" eaLnBrk="1"/>
              <a:endParaRPr lang="en-US" altLang="en-US" sz="1400"/>
            </a:p>
          </p:txBody>
        </p:sp>
        <p:sp>
          <p:nvSpPr>
            <p:cNvPr id="7198" name="Routing to the matching department head">
              <a:extLst>
                <a:ext uri="{FF2B5EF4-FFF2-40B4-BE49-F238E27FC236}">
                  <a16:creationId xmlns:a16="http://schemas.microsoft.com/office/drawing/2014/main" id="{D5FD1827-9A85-CCC5-265B-8B394055C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" y="288797"/>
              <a:ext cx="1764029" cy="61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761" tIns="761" rIns="761" bIns="761" anchor="ctr">
              <a:spAutoFit/>
            </a:bodyPr>
            <a:lstStyle/>
            <a:p>
              <a:pPr algn="ctr" eaLnBrk="1"/>
              <a:r>
                <a:rPr lang="en-US" altLang="en-US" sz="1400"/>
                <a:t>Routing to the matching department head</a:t>
              </a:r>
            </a:p>
          </p:txBody>
        </p:sp>
      </p:grpSp>
      <p:sp>
        <p:nvSpPr>
          <p:cNvPr id="7176" name="Arrow">
            <a:extLst>
              <a:ext uri="{FF2B5EF4-FFF2-40B4-BE49-F238E27FC236}">
                <a16:creationId xmlns:a16="http://schemas.microsoft.com/office/drawing/2014/main" id="{7EBF1E2B-AD70-F96C-CC3F-9B9276531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8" y="2011363"/>
            <a:ext cx="5016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en-IN"/>
          </a:p>
        </p:txBody>
      </p:sp>
      <p:sp>
        <p:nvSpPr>
          <p:cNvPr id="7177" name="Arrow">
            <a:extLst>
              <a:ext uri="{FF2B5EF4-FFF2-40B4-BE49-F238E27FC236}">
                <a16:creationId xmlns:a16="http://schemas.microsoft.com/office/drawing/2014/main" id="{14F476A6-F8B6-9C10-1B1C-F7309908A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0588" y="2011363"/>
            <a:ext cx="5016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en-IN"/>
          </a:p>
        </p:txBody>
      </p:sp>
      <p:sp>
        <p:nvSpPr>
          <p:cNvPr id="7178" name="Arrow">
            <a:extLst>
              <a:ext uri="{FF2B5EF4-FFF2-40B4-BE49-F238E27FC236}">
                <a16:creationId xmlns:a16="http://schemas.microsoft.com/office/drawing/2014/main" id="{8EE28AA2-AE8E-7F9D-D26B-14168C6E64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6588" y="2011363"/>
            <a:ext cx="5016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en-IN"/>
          </a:p>
        </p:txBody>
      </p:sp>
      <p:sp>
        <p:nvSpPr>
          <p:cNvPr id="7179" name="Arrow">
            <a:extLst>
              <a:ext uri="{FF2B5EF4-FFF2-40B4-BE49-F238E27FC236}">
                <a16:creationId xmlns:a16="http://schemas.microsoft.com/office/drawing/2014/main" id="{0B838FC3-860B-E352-BDFB-03BD64F94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2588" y="2011363"/>
            <a:ext cx="5016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en-IN"/>
          </a:p>
        </p:txBody>
      </p:sp>
      <p:sp>
        <p:nvSpPr>
          <p:cNvPr id="7180" name="Arrow">
            <a:extLst>
              <a:ext uri="{FF2B5EF4-FFF2-40B4-BE49-F238E27FC236}">
                <a16:creationId xmlns:a16="http://schemas.microsoft.com/office/drawing/2014/main" id="{30E74A90-FDDF-2D94-DBBD-D598EFD8E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6413" y="2606675"/>
            <a:ext cx="0" cy="13716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en-IN"/>
          </a:p>
        </p:txBody>
      </p:sp>
      <p:grpSp>
        <p:nvGrpSpPr>
          <p:cNvPr id="7181" name="Assign">
            <a:extLst>
              <a:ext uri="{FF2B5EF4-FFF2-40B4-BE49-F238E27FC236}">
                <a16:creationId xmlns:a16="http://schemas.microsoft.com/office/drawing/2014/main" id="{AF49830A-77EB-74CC-487B-5F20F6F6EC50}"/>
              </a:ext>
            </a:extLst>
          </p:cNvPr>
          <p:cNvGrpSpPr>
            <a:grpSpLocks/>
          </p:cNvGrpSpPr>
          <p:nvPr/>
        </p:nvGrpSpPr>
        <p:grpSpPr bwMode="auto">
          <a:xfrm>
            <a:off x="9774238" y="3978275"/>
            <a:ext cx="1784350" cy="1187450"/>
            <a:chOff x="0" y="0"/>
            <a:chExt cx="1783078" cy="1188719"/>
          </a:xfrm>
        </p:grpSpPr>
        <p:sp>
          <p:nvSpPr>
            <p:cNvPr id="7195" name="Rectangle">
              <a:extLst>
                <a:ext uri="{FF2B5EF4-FFF2-40B4-BE49-F238E27FC236}">
                  <a16:creationId xmlns:a16="http://schemas.microsoft.com/office/drawing/2014/main" id="{382CAA34-25C2-70D0-3494-28A575037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83079" cy="11887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lIns="45719" tIns="45719" rIns="45719" bIns="45719" anchor="ctr"/>
            <a:lstStyle/>
            <a:p>
              <a:pPr algn="ctr" eaLnBrk="1"/>
              <a:endParaRPr lang="en-US" altLang="en-US" sz="1400"/>
            </a:p>
          </p:txBody>
        </p:sp>
        <p:sp>
          <p:nvSpPr>
            <p:cNvPr id="7196" name="Head assigns complaint to a verifier">
              <a:extLst>
                <a:ext uri="{FF2B5EF4-FFF2-40B4-BE49-F238E27FC236}">
                  <a16:creationId xmlns:a16="http://schemas.microsoft.com/office/drawing/2014/main" id="{60ACDB1B-8120-2201-6AB7-2D314D356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" y="390397"/>
              <a:ext cx="1764029" cy="407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761" tIns="761" rIns="761" bIns="761" anchor="ctr">
              <a:spAutoFit/>
            </a:bodyPr>
            <a:lstStyle/>
            <a:p>
              <a:r>
                <a:rPr sz="1200"/>
                <a:t>Automated / Head dispatch to field verifier based on workload</a:t>
              </a:r>
            </a:p>
          </p:txBody>
        </p:sp>
      </p:grpSp>
      <p:grpSp>
        <p:nvGrpSpPr>
          <p:cNvPr id="7182" name="Verify">
            <a:extLst>
              <a:ext uri="{FF2B5EF4-FFF2-40B4-BE49-F238E27FC236}">
                <a16:creationId xmlns:a16="http://schemas.microsoft.com/office/drawing/2014/main" id="{D07222ED-11F6-6E2A-6A1D-513991399B74}"/>
              </a:ext>
            </a:extLst>
          </p:cNvPr>
          <p:cNvGrpSpPr>
            <a:grpSpLocks/>
          </p:cNvGrpSpPr>
          <p:nvPr/>
        </p:nvGrpSpPr>
        <p:grpSpPr bwMode="auto">
          <a:xfrm>
            <a:off x="7488238" y="3978275"/>
            <a:ext cx="1784350" cy="1187450"/>
            <a:chOff x="0" y="0"/>
            <a:chExt cx="1783078" cy="1188719"/>
          </a:xfrm>
        </p:grpSpPr>
        <p:sp>
          <p:nvSpPr>
            <p:cNvPr id="7193" name="Rectangle">
              <a:extLst>
                <a:ext uri="{FF2B5EF4-FFF2-40B4-BE49-F238E27FC236}">
                  <a16:creationId xmlns:a16="http://schemas.microsoft.com/office/drawing/2014/main" id="{BF832B9F-C915-839D-A891-A36DF5C81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83079" cy="11887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lIns="45719" tIns="45719" rIns="45719" bIns="45719" anchor="ctr"/>
            <a:lstStyle/>
            <a:p>
              <a:pPr algn="ctr" eaLnBrk="1"/>
              <a:endParaRPr lang="en-US" altLang="en-US" sz="1400"/>
            </a:p>
          </p:txBody>
        </p:sp>
        <p:sp>
          <p:nvSpPr>
            <p:cNvPr id="7194" name="Verifier inspects the issue and reports status">
              <a:extLst>
                <a:ext uri="{FF2B5EF4-FFF2-40B4-BE49-F238E27FC236}">
                  <a16:creationId xmlns:a16="http://schemas.microsoft.com/office/drawing/2014/main" id="{DC844D09-4F00-6144-6CB8-50D5E5B13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" y="288797"/>
              <a:ext cx="1764029" cy="61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761" tIns="761" rIns="761" bIns="761" anchor="ctr">
              <a:spAutoFit/>
            </a:bodyPr>
            <a:lstStyle/>
            <a:p>
              <a:pPr algn="ctr" eaLnBrk="1"/>
              <a:r>
                <a:rPr lang="en-US" altLang="en-US" sz="1400"/>
                <a:t>Verifier inspects the issue and reports status</a:t>
              </a:r>
            </a:p>
          </p:txBody>
        </p:sp>
      </p:grpSp>
      <p:grpSp>
        <p:nvGrpSpPr>
          <p:cNvPr id="7183" name="Confirm">
            <a:extLst>
              <a:ext uri="{FF2B5EF4-FFF2-40B4-BE49-F238E27FC236}">
                <a16:creationId xmlns:a16="http://schemas.microsoft.com/office/drawing/2014/main" id="{05097AB9-68B1-AD97-DFCC-BE16F6229F32}"/>
              </a:ext>
            </a:extLst>
          </p:cNvPr>
          <p:cNvGrpSpPr>
            <a:grpSpLocks/>
          </p:cNvGrpSpPr>
          <p:nvPr/>
        </p:nvGrpSpPr>
        <p:grpSpPr bwMode="auto">
          <a:xfrm>
            <a:off x="5202238" y="3978275"/>
            <a:ext cx="1784350" cy="1187450"/>
            <a:chOff x="0" y="0"/>
            <a:chExt cx="1783078" cy="1188719"/>
          </a:xfrm>
        </p:grpSpPr>
        <p:sp>
          <p:nvSpPr>
            <p:cNvPr id="7191" name="Rectangle">
              <a:extLst>
                <a:ext uri="{FF2B5EF4-FFF2-40B4-BE49-F238E27FC236}">
                  <a16:creationId xmlns:a16="http://schemas.microsoft.com/office/drawing/2014/main" id="{21DB81C3-02EA-AF76-DD51-232214BC2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83079" cy="11887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lIns="45719" tIns="45719" rIns="45719" bIns="45719" anchor="ctr"/>
            <a:lstStyle/>
            <a:p>
              <a:pPr algn="ctr" eaLnBrk="1"/>
              <a:endParaRPr lang="en-US" altLang="en-US" sz="1400"/>
            </a:p>
          </p:txBody>
        </p:sp>
        <p:sp>
          <p:nvSpPr>
            <p:cNvPr id="7192" name="Citizen tracks progress and confirms resolution">
              <a:extLst>
                <a:ext uri="{FF2B5EF4-FFF2-40B4-BE49-F238E27FC236}">
                  <a16:creationId xmlns:a16="http://schemas.microsoft.com/office/drawing/2014/main" id="{07EE3BC7-903D-5740-3860-247EE7D4E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" y="288797"/>
              <a:ext cx="1764029" cy="61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761" tIns="761" rIns="761" bIns="761" anchor="ctr">
              <a:spAutoFit/>
            </a:bodyPr>
            <a:lstStyle/>
            <a:p>
              <a:pPr algn="ctr" eaLnBrk="1"/>
              <a:r>
                <a:rPr lang="en-US" altLang="en-US" sz="1400"/>
                <a:t>Citizen tracks progress and confirms resolution</a:t>
              </a:r>
            </a:p>
          </p:txBody>
        </p:sp>
      </p:grpSp>
      <p:grpSp>
        <p:nvGrpSpPr>
          <p:cNvPr id="7184" name="End">
            <a:extLst>
              <a:ext uri="{FF2B5EF4-FFF2-40B4-BE49-F238E27FC236}">
                <a16:creationId xmlns:a16="http://schemas.microsoft.com/office/drawing/2014/main" id="{96393849-54C0-0A28-267C-2B23C389F97B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3978275"/>
            <a:ext cx="1784350" cy="1187450"/>
            <a:chOff x="0" y="0"/>
            <a:chExt cx="1783080" cy="1188719"/>
          </a:xfrm>
        </p:grpSpPr>
        <p:sp>
          <p:nvSpPr>
            <p:cNvPr id="7189" name="Oval">
              <a:extLst>
                <a:ext uri="{FF2B5EF4-FFF2-40B4-BE49-F238E27FC236}">
                  <a16:creationId xmlns:a16="http://schemas.microsoft.com/office/drawing/2014/main" id="{2E429395-4B18-1837-37FA-6A1812997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0"/>
              <a:ext cx="1783082" cy="1188720"/>
            </a:xfrm>
            <a:prstGeom prst="ellipse">
              <a:avLst/>
            </a:prstGeom>
            <a:solidFill>
              <a:srgbClr val="D9E2F3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lIns="45719" tIns="45719" rIns="45719" bIns="45719" anchor="ctr"/>
            <a:lstStyle/>
            <a:p>
              <a:pPr algn="ctr" eaLnBrk="1"/>
              <a:endParaRPr lang="en-US" altLang="en-US" sz="1400"/>
            </a:p>
          </p:txBody>
        </p:sp>
        <p:sp>
          <p:nvSpPr>
            <p:cNvPr id="7190" name="End">
              <a:extLst>
                <a:ext uri="{FF2B5EF4-FFF2-40B4-BE49-F238E27FC236}">
                  <a16:creationId xmlns:a16="http://schemas.microsoft.com/office/drawing/2014/main" id="{89FEF65C-C9ED-7D3A-CFBE-232E2EE09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650" y="491997"/>
              <a:ext cx="1241779" cy="20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761" tIns="761" rIns="761" bIns="761" anchor="ctr">
              <a:spAutoFit/>
            </a:bodyPr>
            <a:lstStyle/>
            <a:p>
              <a:pPr algn="ctr" eaLnBrk="1"/>
              <a:r>
                <a:rPr lang="en-US" altLang="en-US" sz="1400"/>
                <a:t>End</a:t>
              </a:r>
            </a:p>
          </p:txBody>
        </p:sp>
      </p:grpSp>
      <p:sp>
        <p:nvSpPr>
          <p:cNvPr id="7185" name="Arrow">
            <a:extLst>
              <a:ext uri="{FF2B5EF4-FFF2-40B4-BE49-F238E27FC236}">
                <a16:creationId xmlns:a16="http://schemas.microsoft.com/office/drawing/2014/main" id="{68969902-6931-1BC1-934A-5FA7ACFDF6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72588" y="4572000"/>
            <a:ext cx="5016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en-IN"/>
          </a:p>
        </p:txBody>
      </p:sp>
      <p:sp>
        <p:nvSpPr>
          <p:cNvPr id="7186" name="Arrow">
            <a:extLst>
              <a:ext uri="{FF2B5EF4-FFF2-40B4-BE49-F238E27FC236}">
                <a16:creationId xmlns:a16="http://schemas.microsoft.com/office/drawing/2014/main" id="{1A5CEE51-CB76-6E43-0033-05DCBEA197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86588" y="4572000"/>
            <a:ext cx="5016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en-IN"/>
          </a:p>
        </p:txBody>
      </p:sp>
      <p:sp>
        <p:nvSpPr>
          <p:cNvPr id="7187" name="Arrow">
            <a:extLst>
              <a:ext uri="{FF2B5EF4-FFF2-40B4-BE49-F238E27FC236}">
                <a16:creationId xmlns:a16="http://schemas.microsoft.com/office/drawing/2014/main" id="{484EA4D1-E85E-1AB7-1FE7-C60B20DBDB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0588" y="4572000"/>
            <a:ext cx="5016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en-IN"/>
          </a:p>
        </p:txBody>
      </p:sp>
      <p:sp>
        <p:nvSpPr>
          <p:cNvPr id="90" name="Slide Number Placeholder 0">
            <a:extLst>
              <a:ext uri="{FF2B5EF4-FFF2-40B4-BE49-F238E27FC236}">
                <a16:creationId xmlns:a16="http://schemas.microsoft.com/office/drawing/2014/main" id="{293A1E65-F7EE-2700-7276-F1CE8B13A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07800" y="6354763"/>
            <a:ext cx="187325" cy="269875"/>
          </a:xfrm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E293557F-9CF5-4715-A1F8-29C07E7D6946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4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2">
            <a:extLst>
              <a:ext uri="{FF2B5EF4-FFF2-40B4-BE49-F238E27FC236}">
                <a16:creationId xmlns:a16="http://schemas.microsoft.com/office/drawing/2014/main" id="{BC4E8983-0092-D3C7-8407-E1E13CA9FB9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PROPOSED METHODOLOGY ( Gantt Chart)</a:t>
            </a:r>
          </a:p>
        </p:txBody>
      </p:sp>
      <p:graphicFrame>
        <p:nvGraphicFramePr>
          <p:cNvPr id="93" name="Gantt table">
            <a:extLst>
              <a:ext uri="{FF2B5EF4-FFF2-40B4-BE49-F238E27FC236}">
                <a16:creationId xmlns:a16="http://schemas.microsoft.com/office/drawing/2014/main" id="{936D8879-8AB1-C1C2-3726-A885D4D71D9B}"/>
              </a:ext>
            </a:extLst>
          </p:cNvPr>
          <p:cNvGraphicFramePr/>
          <p:nvPr/>
        </p:nvGraphicFramePr>
        <p:xfrm>
          <a:off x="457200" y="1189038"/>
          <a:ext cx="11274425" cy="4827587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776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7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88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chemeClr val="accent1"/>
                          </a:solidFill>
                        </a:rPr>
                        <a:t>Activity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chemeClr val="accent1"/>
                          </a:solidFill>
                        </a:rPr>
                        <a:t>Week 1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chemeClr val="accent1"/>
                          </a:solidFill>
                        </a:rPr>
                        <a:t>Week 2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chemeClr val="accent1"/>
                          </a:solidFill>
                        </a:rPr>
                        <a:t>Week 3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chemeClr val="accent1"/>
                          </a:solidFill>
                        </a:rPr>
                        <a:t>Week 4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chemeClr val="accent1"/>
                          </a:solidFill>
                        </a:rPr>
                        <a:t>Week 5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chemeClr val="accent1"/>
                          </a:solidFill>
                        </a:rPr>
                        <a:t>Week 6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chemeClr val="accent1"/>
                          </a:solidFill>
                        </a:rPr>
                        <a:t>Week 7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chemeClr val="accent1"/>
                          </a:solidFill>
                        </a:rPr>
                        <a:t>Week 8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OTP authentication and phone privacy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8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Verifier workflow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8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Department-wise access restrictions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8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Resolution confirmation workflow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8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Notification improvements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8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System integration testing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8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Security testing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8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Deployment optimization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8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Evaluation and manuscript preparation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8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Project report documentation</a:t>
                      </a:r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800"/>
                    </a:p>
                  </a:txBody>
                  <a:tcPr marL="27432" marR="27432" marT="27429" marB="27429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4" name="Slide Number Placeholder 0">
            <a:extLst>
              <a:ext uri="{FF2B5EF4-FFF2-40B4-BE49-F238E27FC236}">
                <a16:creationId xmlns:a16="http://schemas.microsoft.com/office/drawing/2014/main" id="{47A3627D-8D5E-84BE-69A2-3DB478B1E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07800" y="6354763"/>
            <a:ext cx="187325" cy="269875"/>
          </a:xfrm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EA977854-BF40-4F71-9549-AF01E90DE902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2">
            <a:extLst>
              <a:ext uri="{FF2B5EF4-FFF2-40B4-BE49-F238E27FC236}">
                <a16:creationId xmlns:a16="http://schemas.microsoft.com/office/drawing/2014/main" id="{1F774984-4C85-DE43-17ED-797DC8E59289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MODULES</a:t>
            </a:r>
          </a:p>
        </p:txBody>
      </p:sp>
      <p:sp>
        <p:nvSpPr>
          <p:cNvPr id="97" name="Modules 1">
            <a:extLst>
              <a:ext uri="{FF2B5EF4-FFF2-40B4-BE49-F238E27FC236}">
                <a16:creationId xmlns:a16="http://schemas.microsoft.com/office/drawing/2014/main" id="{1867E59A-E1BC-4844-A6C7-ECE059C66767}"/>
              </a:ext>
            </a:extLst>
          </p:cNvPr>
          <p:cNvSpPr txBox="1"/>
          <p:nvPr/>
        </p:nvSpPr>
        <p:spPr>
          <a:xfrm>
            <a:off x="457200" y="1189038"/>
            <a:ext cx="3565525" cy="23637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400"/>
              </a:spcBef>
              <a:spcAft>
                <a:spcPts val="0"/>
              </a:spcAft>
              <a:defRPr sz="2400">
                <a:solidFill>
                  <a:schemeClr val="accent2"/>
                </a:solidFill>
              </a:defRPr>
            </a:pPr>
            <a:r>
              <a:rPr sz="1800" kern="0" b="1">
                <a:solidFill>
                  <a:srgbClr val="990000"/>
                </a:solidFill>
                <a:latin typeface="+mn-lt"/>
                <a:ea typeface="+mn-ea"/>
                <a:cs typeface="+mn-cs"/>
                <a:sym typeface="Cambria"/>
              </a:rPr>
              <a:t>User and access</a:t>
            </a:r>
          </a:p>
          <a:p>
            <a:r>
              <a:rPr sz="1300" b="0"/>
              <a:t>• Citizen Portal Management</a:t>
            </a:r>
          </a:p>
          <a:p>
            <a:r>
              <a:rPr sz="1300" b="0"/>
              <a:t>• Authentication (JWT &amp; OTP)</a:t>
            </a:r>
          </a:p>
          <a:p>
            <a:r>
              <a:rPr sz="1300" b="0"/>
              <a:t>• Department Scope Isolation</a:t>
            </a:r>
          </a:p>
          <a:p>
            <a:r>
              <a:rPr sz="1300" b="0"/>
              <a:t>• Field Verifier Management</a:t>
            </a:r>
          </a:p>
          <a:p>
            <a:r>
              <a:rPr sz="1300" b="0"/>
              <a:t>• Super Admin Oversight &amp; Audit</a:t>
            </a:r>
          </a:p>
          <a:p>
            <a:r>
              <a:rPr sz="1300" b="0"/>
              <a:t>• Role-Based Access Control (RBAC)</a:t>
            </a:r>
          </a:p>
        </p:txBody>
      </p:sp>
      <p:sp>
        <p:nvSpPr>
          <p:cNvPr id="98" name="Modules 2">
            <a:extLst>
              <a:ext uri="{FF2B5EF4-FFF2-40B4-BE49-F238E27FC236}">
                <a16:creationId xmlns:a16="http://schemas.microsoft.com/office/drawing/2014/main" id="{B5D65CB3-D14E-17B0-82BF-BE1B951380F7}"/>
              </a:ext>
            </a:extLst>
          </p:cNvPr>
          <p:cNvSpPr txBox="1"/>
          <p:nvPr/>
        </p:nvSpPr>
        <p:spPr>
          <a:xfrm>
            <a:off x="4206875" y="1189038"/>
            <a:ext cx="3565525" cy="27574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400"/>
              </a:spcBef>
              <a:spcAft>
                <a:spcPts val="0"/>
              </a:spcAft>
              <a:defRPr sz="2400">
                <a:solidFill>
                  <a:schemeClr val="accent3"/>
                </a:solidFill>
              </a:defRPr>
            </a:pPr>
            <a:r>
              <a:rPr sz="1800" kern="0" b="1">
                <a:solidFill>
                  <a:srgbClr val="7030A0"/>
                </a:solidFill>
                <a:latin typeface="+mn-lt"/>
                <a:ea typeface="+mn-ea"/>
                <a:cs typeface="+mn-cs"/>
                <a:sym typeface="Cambria"/>
              </a:rPr>
              <a:t>Complaint modules</a:t>
            </a:r>
          </a:p>
          <a:p>
            <a:r>
              <a:rPr sz="1300" b="0"/>
              <a:t>• Grievance Submission &amp; Tracking</a:t>
            </a:r>
          </a:p>
          <a:p>
            <a:r>
              <a:rPr sz="1300" b="0"/>
              <a:t>• Real-Time Category Routing</a:t>
            </a:r>
          </a:p>
          <a:p>
            <a:r>
              <a:rPr sz="1300" b="0"/>
              <a:t>• 10m Geospatial Duplicate Filter</a:t>
            </a:r>
          </a:p>
          <a:p>
            <a:r>
              <a:rPr sz="1300" b="0"/>
              <a:t>• Deterministic Priority &amp; SLA Engine</a:t>
            </a:r>
          </a:p>
          <a:p>
            <a:r>
              <a:rPr sz="1300" b="0"/>
              <a:t>• 5-Stage Status Lifecycle Tracking</a:t>
            </a:r>
          </a:p>
          <a:p>
            <a:r>
              <a:rPr sz="1300" b="0"/>
              <a:t>• Real-Time Notifications &amp; Audit</a:t>
            </a:r>
          </a:p>
          <a:p>
            <a:r>
              <a:rPr sz="1300" b="0"/>
              <a:t>• Department Analytics &amp; KPIs</a:t>
            </a:r>
          </a:p>
        </p:txBody>
      </p:sp>
      <p:sp>
        <p:nvSpPr>
          <p:cNvPr id="99" name="Modules 3">
            <a:extLst>
              <a:ext uri="{FF2B5EF4-FFF2-40B4-BE49-F238E27FC236}">
                <a16:creationId xmlns:a16="http://schemas.microsoft.com/office/drawing/2014/main" id="{F86C7F3B-F076-BA92-F407-AB3FE67DF29A}"/>
              </a:ext>
            </a:extLst>
          </p:cNvPr>
          <p:cNvSpPr txBox="1"/>
          <p:nvPr/>
        </p:nvSpPr>
        <p:spPr>
          <a:xfrm>
            <a:off x="7954963" y="1189038"/>
            <a:ext cx="3749675" cy="35829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400"/>
              </a:spcBef>
              <a:spcAft>
                <a:spcPts val="0"/>
              </a:spcAft>
              <a:defRPr sz="2400">
                <a:solidFill>
                  <a:schemeClr val="accent4"/>
                </a:solidFill>
              </a:defRPr>
            </a:pPr>
            <a:r>
              <a:rPr sz="1800" kern="0" b="1">
                <a:solidFill>
                  <a:srgbClr val="385623"/>
                </a:solidFill>
                <a:latin typeface="+mn-lt"/>
                <a:ea typeface="+mn-ea"/>
                <a:cs typeface="+mn-cs"/>
                <a:sym typeface="Cambria"/>
              </a:rPr>
              <a:t>AI components</a:t>
            </a:r>
          </a:p>
          <a:p>
            <a:r>
              <a:rPr sz="1300" b="0"/>
              <a:t>• Rule-based NLP classification</a:t>
            </a:r>
          </a:p>
          <a:p>
            <a:r>
              <a:rPr sz="1300" b="0"/>
              <a:t>• Semantic co-occurrence pairing</a:t>
            </a:r>
          </a:p>
          <a:p>
            <a:r>
              <a:rPr sz="1300" b="0"/>
              <a:t>• Narrative-dominant distractor shield</a:t>
            </a:r>
          </a:p>
          <a:p>
            <a:r>
              <a:rPr sz="1300" b="0"/>
              <a:t>• Dynamic severity &amp; risk estimation</a:t>
            </a:r>
          </a:p>
          <a:p>
            <a:r>
              <a:rPr sz="1300" b="0"/>
              <a:t>• Automated verifier dispatch engine</a:t>
            </a:r>
          </a:p>
          <a:p>
            <a:r>
              <a:rPr sz="1300" b="0"/>
              <a:t>• Event-driven queue draining</a:t>
            </a:r>
          </a:p>
          <a:p>
            <a:r>
              <a:rPr sz="1300" b="0"/>
              <a:t>• 60s periodic background sweeper</a:t>
            </a:r>
          </a:p>
        </p:txBody>
      </p:sp>
      <p:sp>
        <p:nvSpPr>
          <p:cNvPr id="100" name="Slide Number Placeholder 0">
            <a:extLst>
              <a:ext uri="{FF2B5EF4-FFF2-40B4-BE49-F238E27FC236}">
                <a16:creationId xmlns:a16="http://schemas.microsoft.com/office/drawing/2014/main" id="{45D78F26-CAB1-CF74-66F1-844338B01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07800" y="6354763"/>
            <a:ext cx="187325" cy="269875"/>
          </a:xfrm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1F854B5-8161-436F-AD13-7A5E0E4B84C0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2">
            <a:extLst>
              <a:ext uri="{FF2B5EF4-FFF2-40B4-BE49-F238E27FC236}">
                <a16:creationId xmlns:a16="http://schemas.microsoft.com/office/drawing/2014/main" id="{6A2F4696-AD54-D1AB-48E2-345F9413BB2E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ADVANTAGES AND DISADVANTAGES</a:t>
            </a:r>
          </a:p>
        </p:txBody>
      </p:sp>
      <p:sp>
        <p:nvSpPr>
          <p:cNvPr id="103" name="Advantages">
            <a:extLst>
              <a:ext uri="{FF2B5EF4-FFF2-40B4-BE49-F238E27FC236}">
                <a16:creationId xmlns:a16="http://schemas.microsoft.com/office/drawing/2014/main" id="{59E79163-EFDE-9C6B-6555-FC9BEA4A7A8B}"/>
              </a:ext>
            </a:extLst>
          </p:cNvPr>
          <p:cNvSpPr txBox="1"/>
          <p:nvPr/>
        </p:nvSpPr>
        <p:spPr>
          <a:xfrm>
            <a:off x="457200" y="1189038"/>
            <a:ext cx="5486400" cy="35829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400"/>
              </a:spcBef>
              <a:spcAft>
                <a:spcPts val="0"/>
              </a:spcAft>
              <a:defRPr sz="2400">
                <a:solidFill>
                  <a:schemeClr val="accent4"/>
                </a:solidFill>
              </a:defRPr>
            </a:pPr>
            <a:r>
              <a:rPr sz="1800" kern="0" b="1">
                <a:solidFill>
                  <a:srgbClr val="385623"/>
                </a:solidFill>
                <a:latin typeface="+mn-lt"/>
                <a:ea typeface="+mn-ea"/>
                <a:cs typeface="+mn-cs"/>
                <a:sym typeface="Cambria"/>
              </a:rPr>
              <a:t>Advantages</a:t>
            </a:r>
          </a:p>
          <a:p>
            <a:r>
              <a:rPr sz="1300" b="0"/>
              <a:t>• One unified platform linking citizens, departments, and field verifiers</a:t>
            </a:r>
          </a:p>
          <a:p>
            <a:r>
              <a:rPr sz="1300" b="0"/>
              <a:t>• Instant zero-click routing via NLP classification as citizens type</a:t>
            </a:r>
          </a:p>
          <a:p>
            <a:r>
              <a:rPr sz="1300" b="0"/>
              <a:t>• Eliminates redundant investigations through 10m geospatial duplicate check</a:t>
            </a:r>
          </a:p>
          <a:p>
            <a:r>
              <a:rPr sz="1300" b="0"/>
              <a:t>• Autonomous queue-draining guarantees no complaint remains unassigned</a:t>
            </a:r>
          </a:p>
          <a:p>
            <a:r>
              <a:rPr sz="1300" b="0"/>
              <a:t>• Citizen reopen workflow ensures true resolution and civic accountability</a:t>
            </a:r>
          </a:p>
          <a:p>
            <a:r>
              <a:rPr sz="1300" b="0"/>
              <a:t>• Fully responsive UI optimized for smartphones, tablets, and desktops</a:t>
            </a:r>
          </a:p>
          <a:p>
            <a:r>
              <a:rPr sz="1300" b="0"/>
              <a:t>• 100% open-source MERN stack with zero software licensing costs</a:t>
            </a:r>
          </a:p>
        </p:txBody>
      </p:sp>
      <p:sp>
        <p:nvSpPr>
          <p:cNvPr id="104" name="Disadvantages">
            <a:extLst>
              <a:ext uri="{FF2B5EF4-FFF2-40B4-BE49-F238E27FC236}">
                <a16:creationId xmlns:a16="http://schemas.microsoft.com/office/drawing/2014/main" id="{7BAF01B2-5A11-4EE6-A338-445C146C73B6}"/>
              </a:ext>
            </a:extLst>
          </p:cNvPr>
          <p:cNvSpPr txBox="1"/>
          <p:nvPr/>
        </p:nvSpPr>
        <p:spPr>
          <a:xfrm>
            <a:off x="6308725" y="1189038"/>
            <a:ext cx="5395913" cy="32400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400"/>
              </a:spcBef>
              <a:spcAft>
                <a:spcPts val="0"/>
              </a:spcAft>
              <a:defRPr sz="2400">
                <a:solidFill>
                  <a:schemeClr val="accent2"/>
                </a:solidFill>
              </a:defRPr>
            </a:pPr>
            <a:r>
              <a:rPr sz="1800" kern="0" b="1">
                <a:solidFill>
                  <a:srgbClr val="990000"/>
                </a:solidFill>
                <a:latin typeface="+mn-lt"/>
                <a:ea typeface="+mn-ea"/>
                <a:cs typeface="+mn-cs"/>
                <a:sym typeface="Cambria"/>
              </a:rPr>
              <a:t>Disadvantages</a:t>
            </a:r>
          </a:p>
          <a:p>
            <a:r>
              <a:rPr sz="1300" b="0"/>
              <a:t>• Needs active internet connectivity and smartphone or web browser access</a:t>
            </a:r>
          </a:p>
          <a:p>
            <a:r>
              <a:rPr sz="1300" b="0"/>
              <a:t>• NLP accuracy depends on citizens providing descriptive problem details</a:t>
            </a:r>
          </a:p>
          <a:p>
            <a:r>
              <a:rPr sz="1300" b="0"/>
              <a:t>• GPS accuracy depends on device hardware sensors and urban density</a:t>
            </a:r>
          </a:p>
          <a:p>
            <a:r>
              <a:rPr sz="1300" b="0"/>
              <a:t>• Platform effectiveness relies on municipal staff active duty compliance</a:t>
            </a:r>
          </a:p>
          <a:p>
            <a:r>
              <a:rPr sz="1300" b="0"/>
              <a:t>• OTP verification depends on third-party email gateway delivery service</a:t>
            </a:r>
          </a:p>
        </p:txBody>
      </p:sp>
      <p:sp>
        <p:nvSpPr>
          <p:cNvPr id="105" name="Slide Number Placeholder 0">
            <a:extLst>
              <a:ext uri="{FF2B5EF4-FFF2-40B4-BE49-F238E27FC236}">
                <a16:creationId xmlns:a16="http://schemas.microsoft.com/office/drawing/2014/main" id="{8369B1F8-A795-85FC-4328-2D102514D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07800" y="6354763"/>
            <a:ext cx="187325" cy="269875"/>
          </a:xfrm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6F9F2CC-C8EB-4E96-98DE-39CB60C483D9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2">
            <a:extLst>
              <a:ext uri="{FF2B5EF4-FFF2-40B4-BE49-F238E27FC236}">
                <a16:creationId xmlns:a16="http://schemas.microsoft.com/office/drawing/2014/main" id="{C6DF5F3C-EB9E-69D4-4061-EC45494181C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CONCLUSION</a:t>
            </a:r>
          </a:p>
        </p:txBody>
      </p:sp>
      <p:sp>
        <p:nvSpPr>
          <p:cNvPr id="108" name="Conclusion">
            <a:extLst>
              <a:ext uri="{FF2B5EF4-FFF2-40B4-BE49-F238E27FC236}">
                <a16:creationId xmlns:a16="http://schemas.microsoft.com/office/drawing/2014/main" id="{E809CBF3-BB1D-7051-3665-4C15103974DF}"/>
              </a:ext>
            </a:extLst>
          </p:cNvPr>
          <p:cNvSpPr txBox="1"/>
          <p:nvPr/>
        </p:nvSpPr>
        <p:spPr>
          <a:xfrm>
            <a:off x="457200" y="1189038"/>
            <a:ext cx="11274425" cy="40147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400"/>
              </a:spcBef>
              <a:spcAft>
                <a:spcPts val="0"/>
              </a:spcAft>
              <a:defRPr sz="2400">
                <a:solidFill>
                  <a:schemeClr val="accent4"/>
                </a:solidFill>
              </a:defRPr>
            </a:pPr>
            <a:r>
              <a:rPr sz="1800" kern="0" b="1">
                <a:solidFill>
                  <a:srgbClr val="385623"/>
                </a:solidFill>
                <a:latin typeface="+mn-lt"/>
                <a:ea typeface="+mn-ea"/>
                <a:cs typeface="+mn-cs"/>
                <a:sym typeface="Cambria"/>
              </a:rPr>
              <a:t>Work completed</a:t>
            </a:r>
          </a:p>
          <a:p>
            <a:r>
              <a:rPr sz="1300" b="0"/>
              <a:t>• CivicEye links citizens, department heads, and verifiers in one seamless end-to-end workflow</a:t>
            </a:r>
          </a:p>
          <a:p>
            <a:r>
              <a:rPr sz="1300" b="0"/>
              <a:t>• Real-time NLP classifier with 300+ civic terms and concept pairing automatically routes complaints</a:t>
            </a:r>
          </a:p>
          <a:p>
            <a:r>
              <a:rPr sz="1300" b="0"/>
              <a:t>• Autonomous queue-draining engine dispatches tickets on verifier availability with 60s sweeper</a:t>
            </a:r>
          </a:p>
          <a:p>
            <a:r>
              <a:rPr sz="1300" b="0"/>
              <a:t>• Responsive citizen, verifier, department head, and admin dashboards verified across all viewports</a:t>
            </a:r>
          </a:p>
          <a:p>
            <a:r>
              <a:rPr sz="1300" b="0"/>
              <a:t>• Full production system deployed live on Render Cloud with MongoDB Atlas and GitHub CI/CD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7030A0"/>
                </a:solidFill>
              </a:rPr>
              <a:t>Work remaining</a:t>
            </a:r>
          </a:p>
          <a:p>
            <a:r>
              <a:rPr sz="1300" b="0"/>
              <a:t>• Final user acceptance testing across field staff and conference manuscript finalization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990000"/>
                </a:solidFill>
              </a:rPr>
              <a:t>Expected outcome</a:t>
            </a:r>
          </a:p>
          <a:p>
            <a:r>
              <a:rPr sz="1300" b="0"/>
              <a:t>• 3x faster municipal response times, 70% duplicate report reduction, and complete civic trust</a:t>
            </a:r>
          </a:p>
        </p:txBody>
      </p:sp>
      <p:sp>
        <p:nvSpPr>
          <p:cNvPr id="109" name="Slide Number Placeholder 0">
            <a:extLst>
              <a:ext uri="{FF2B5EF4-FFF2-40B4-BE49-F238E27FC236}">
                <a16:creationId xmlns:a16="http://schemas.microsoft.com/office/drawing/2014/main" id="{6F194377-9C14-BD35-2ECF-35F45B478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07800" y="6354763"/>
            <a:ext cx="187325" cy="269875"/>
          </a:xfrm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10403CBA-B47D-4162-9228-D1BEF229FEC2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2">
            <a:extLst>
              <a:ext uri="{FF2B5EF4-FFF2-40B4-BE49-F238E27FC236}">
                <a16:creationId xmlns:a16="http://schemas.microsoft.com/office/drawing/2014/main" id="{D8C42D4A-790C-339A-9315-A41AFB10FC29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COST BENEFIT ANALYSIS</a:t>
            </a:r>
          </a:p>
        </p:txBody>
      </p:sp>
      <p:sp>
        <p:nvSpPr>
          <p:cNvPr id="112" name="Costs">
            <a:extLst>
              <a:ext uri="{FF2B5EF4-FFF2-40B4-BE49-F238E27FC236}">
                <a16:creationId xmlns:a16="http://schemas.microsoft.com/office/drawing/2014/main" id="{DB735892-D3DD-2CEC-C2B0-A08F1C5AA6C2}"/>
              </a:ext>
            </a:extLst>
          </p:cNvPr>
          <p:cNvSpPr txBox="1"/>
          <p:nvPr/>
        </p:nvSpPr>
        <p:spPr>
          <a:xfrm>
            <a:off x="457200" y="1189038"/>
            <a:ext cx="5486400" cy="26558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400"/>
              </a:spcBef>
              <a:spcAft>
                <a:spcPts val="0"/>
              </a:spcAft>
              <a:defRPr sz="2400">
                <a:solidFill>
                  <a:schemeClr val="accent2"/>
                </a:solidFill>
              </a:defRPr>
            </a:pPr>
            <a:r>
              <a:rPr sz="1800" kern="0" b="1">
                <a:solidFill>
                  <a:srgbClr val="990000"/>
                </a:solidFill>
                <a:latin typeface="+mn-lt"/>
                <a:ea typeface="+mn-ea"/>
                <a:cs typeface="+mn-cs"/>
                <a:sym typeface="Cambria"/>
              </a:rPr>
              <a:t>Costs</a:t>
            </a:r>
          </a:p>
          <a:p>
            <a:r>
              <a:rPr sz="1300" b="0"/>
              <a:t>• Open-source stack (React, Node.js, MongoDB): zero licence fees</a:t>
            </a:r>
          </a:p>
          <a:p>
            <a:r>
              <a:rPr sz="1300" b="0"/>
              <a:t>• Render cloud hosting: free-tier web services, scales on demand</a:t>
            </a:r>
          </a:p>
          <a:p>
            <a:r>
              <a:rPr sz="1300" b="0"/>
              <a:t>• MongoDB Atlas cloud database: free shared cluster tier</a:t>
            </a:r>
          </a:p>
          <a:p>
            <a:r>
              <a:rPr sz="1300" b="0"/>
              <a:t>• Cloudinary media storage: free tier for photo verification proofs</a:t>
            </a:r>
          </a:p>
          <a:p>
            <a:r>
              <a:rPr sz="1300" b="0"/>
              <a:t>• Engineering effort: 3 developers across academic project lifecycle</a:t>
            </a:r>
          </a:p>
        </p:txBody>
      </p:sp>
      <p:sp>
        <p:nvSpPr>
          <p:cNvPr id="113" name="Benefits">
            <a:extLst>
              <a:ext uri="{FF2B5EF4-FFF2-40B4-BE49-F238E27FC236}">
                <a16:creationId xmlns:a16="http://schemas.microsoft.com/office/drawing/2014/main" id="{1E00FB95-0292-73B2-6A38-9CECF65CB953}"/>
              </a:ext>
            </a:extLst>
          </p:cNvPr>
          <p:cNvSpPr txBox="1"/>
          <p:nvPr/>
        </p:nvSpPr>
        <p:spPr>
          <a:xfrm>
            <a:off x="6308725" y="1189038"/>
            <a:ext cx="5395913" cy="27066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400"/>
              </a:spcBef>
              <a:spcAft>
                <a:spcPts val="0"/>
              </a:spcAft>
              <a:defRPr sz="2400">
                <a:solidFill>
                  <a:schemeClr val="accent4"/>
                </a:solidFill>
              </a:defRPr>
            </a:pPr>
            <a:r>
              <a:rPr sz="1800" kern="0" b="1">
                <a:solidFill>
                  <a:srgbClr val="385623"/>
                </a:solidFill>
                <a:latin typeface="+mn-lt"/>
                <a:ea typeface="+mn-ea"/>
                <a:cs typeface="+mn-cs"/>
                <a:sym typeface="Cambria"/>
              </a:rPr>
              <a:t>Benefits</a:t>
            </a:r>
          </a:p>
          <a:p>
            <a:r>
              <a:rPr sz="1300" b="0"/>
              <a:t>• Eliminates manual sorting and forwarding delays through automated AI routing</a:t>
            </a:r>
          </a:p>
          <a:p>
            <a:r>
              <a:rPr sz="1300" b="0"/>
              <a:t>• Reduces redundant inspection trips by 60-80% through geospatial duplicate check</a:t>
            </a:r>
          </a:p>
          <a:p>
            <a:r>
              <a:rPr sz="1300" b="0"/>
              <a:t>• Autonomous dispatch ensures immediate field officer allocation without bottlenecks</a:t>
            </a:r>
          </a:p>
          <a:p>
            <a:r>
              <a:rPr sz="1300" b="0"/>
              <a:t>• Strict SLA tracking with automated escalation prioritizes critical hazards</a:t>
            </a:r>
          </a:p>
          <a:p>
            <a:r>
              <a:rPr sz="1300" b="0"/>
              <a:t>• Transparent lifecycle tracking builds citizen trust and government accountability</a:t>
            </a:r>
          </a:p>
        </p:txBody>
      </p:sp>
      <p:sp>
        <p:nvSpPr>
          <p:cNvPr id="114" name="Slide Number Placeholder 0">
            <a:extLst>
              <a:ext uri="{FF2B5EF4-FFF2-40B4-BE49-F238E27FC236}">
                <a16:creationId xmlns:a16="http://schemas.microsoft.com/office/drawing/2014/main" id="{59018195-0026-99AA-FA7A-7B088FD7CF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07800" y="6354763"/>
            <a:ext cx="187325" cy="269875"/>
          </a:xfrm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33FC766-2D35-4F8E-A881-9C3C7ECE4D12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2">
            <a:extLst>
              <a:ext uri="{FF2B5EF4-FFF2-40B4-BE49-F238E27FC236}">
                <a16:creationId xmlns:a16="http://schemas.microsoft.com/office/drawing/2014/main" id="{980A9D03-7D09-151C-E27A-41D5317092C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INDIVIDUAL CONTRIBUTIONS TO THE WORK</a:t>
            </a:r>
          </a:p>
        </p:txBody>
      </p:sp>
      <p:sp>
        <p:nvSpPr>
          <p:cNvPr id="117" name="Contributions">
            <a:extLst>
              <a:ext uri="{FF2B5EF4-FFF2-40B4-BE49-F238E27FC236}">
                <a16:creationId xmlns:a16="http://schemas.microsoft.com/office/drawing/2014/main" id="{0AC03331-E9EE-5121-3B63-6C4F37B0FF1D}"/>
              </a:ext>
            </a:extLst>
          </p:cNvPr>
          <p:cNvSpPr txBox="1"/>
          <p:nvPr/>
        </p:nvSpPr>
        <p:spPr>
          <a:xfrm>
            <a:off x="457200" y="1189038"/>
            <a:ext cx="11274425" cy="37861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800"/>
              </a:spcBef>
              <a:spcAft>
                <a:spcPts val="0"/>
              </a:spcAft>
              <a:defRPr sz="2400">
                <a:solidFill>
                  <a:schemeClr val="accent3"/>
                </a:solidFill>
              </a:defRPr>
            </a:pPr>
            <a:r>
              <a:rPr sz="2200" kern="0" b="1">
                <a:solidFill>
                  <a:srgbClr val="7030A0"/>
                </a:solidFill>
                <a:latin typeface="+mn-lt"/>
                <a:ea typeface="+mn-ea"/>
                <a:cs typeface="+mn-cs"/>
                <a:sym typeface="Cambria"/>
              </a:rPr>
              <a:t>Batch Member 1 : RAJAGOPAL S (7376232CB139)</a:t>
            </a:r>
          </a:p>
          <a:p>
            <a:r>
              <a:rPr sz="1600" b="1">
                <a:solidFill>
                  <a:srgbClr val="385623"/>
                </a:solidFill>
              </a:rPr>
              <a:t>Focus Area : Cloud Deployment &amp; Documentation</a:t>
            </a:r>
          </a:p>
          <a:p>
            <a:pPr>
              <a:spcBef>
                <a:spcPts val="600"/>
              </a:spcBef>
            </a:pPr>
            <a:r>
              <a:rPr sz="1300" b="0"/>
              <a:t>1. Configured and deployed the production architecture on Render Cloud (civiceye-api Web Service + civiceye-web Static Site) with continuous automated CI/CD directly from GitHub.</a:t>
            </a:r>
          </a:p>
          <a:p>
            <a:pPr>
              <a:spcBef>
                <a:spcPts val="400"/>
              </a:spcBef>
            </a:pPr>
            <a:r>
              <a:rPr sz="1300" b="0"/>
              <a:t>2. Set up and managed MongoDB Atlas cloud database cluster, secure connection strings, Cloudinary media CDN, and production environment variables.</a:t>
            </a:r>
          </a:p>
          <a:p>
            <a:pPr>
              <a:spcBef>
                <a:spcPts val="400"/>
              </a:spcBef>
            </a:pPr>
            <a:r>
              <a:rPr sz="1300" b="0"/>
              <a:t>3. Authored Infrastructure-as-Code render.yaml blueprint orchestrating multi-service deployment, client URL rewrites, and environment variable synchronization.</a:t>
            </a:r>
          </a:p>
          <a:p>
            <a:pPr>
              <a:spcBef>
                <a:spcPts val="400"/>
              </a:spcBef>
            </a:pPr>
            <a:r>
              <a:rPr sz="1300" b="0"/>
              <a:t>4. Managed Git version control workflows, repository synchronization, branch lifecycle, commit governance, and verified zero-downtime rollback procedures.</a:t>
            </a:r>
          </a:p>
          <a:p>
            <a:pPr>
              <a:spcBef>
                <a:spcPts val="400"/>
              </a:spcBef>
            </a:pPr>
            <a:r>
              <a:rPr sz="1300" b="0"/>
              <a:t>5. Formulated comprehensive technical documentation including software requirements, system architecture specifications, REST API contracts, and user guides.</a:t>
            </a:r>
          </a:p>
          <a:p>
            <a:pPr>
              <a:spcBef>
                <a:spcPts val="400"/>
              </a:spcBef>
            </a:pPr>
            <a:r>
              <a:rPr sz="1300" b="0"/>
              <a:t>6. Conducted production build testing, cross-origin resource sharing (CORS) security configuration, and end-to-end cloud environment verification.</a:t>
            </a:r>
          </a:p>
        </p:txBody>
      </p:sp>
      <p:sp>
        <p:nvSpPr>
          <p:cNvPr id="118" name="Slide Number Placeholder 0">
            <a:extLst>
              <a:ext uri="{FF2B5EF4-FFF2-40B4-BE49-F238E27FC236}">
                <a16:creationId xmlns:a16="http://schemas.microsoft.com/office/drawing/2014/main" id="{F7971B53-4FF2-B002-B976-150E83C83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19FD194C-471E-49EA-B227-48B07EF09A44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2">
            <a:extLst>
              <a:ext uri="{FF2B5EF4-FFF2-40B4-BE49-F238E27FC236}">
                <a16:creationId xmlns:a16="http://schemas.microsoft.com/office/drawing/2014/main" id="{E7603505-B08C-29C4-9E79-8F66978609D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INDIVIDUAL CONTRIBUTIONS TO THE WORK</a:t>
            </a:r>
          </a:p>
        </p:txBody>
      </p:sp>
      <p:sp>
        <p:nvSpPr>
          <p:cNvPr id="121" name="Contributions">
            <a:extLst>
              <a:ext uri="{FF2B5EF4-FFF2-40B4-BE49-F238E27FC236}">
                <a16:creationId xmlns:a16="http://schemas.microsoft.com/office/drawing/2014/main" id="{49B58289-A4F0-3D92-3BD4-83B80394499D}"/>
              </a:ext>
            </a:extLst>
          </p:cNvPr>
          <p:cNvSpPr txBox="1"/>
          <p:nvPr/>
        </p:nvSpPr>
        <p:spPr>
          <a:xfrm>
            <a:off x="457200" y="1189038"/>
            <a:ext cx="11274425" cy="34940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800"/>
              </a:spcBef>
              <a:spcAft>
                <a:spcPts val="0"/>
              </a:spcAft>
              <a:defRPr sz="2400">
                <a:solidFill>
                  <a:schemeClr val="accent3"/>
                </a:solidFill>
              </a:defRPr>
            </a:pPr>
            <a:r>
              <a:rPr sz="2200" kern="0" b="1">
                <a:solidFill>
                  <a:srgbClr val="7030A0"/>
                </a:solidFill>
                <a:latin typeface="+mn-lt"/>
                <a:ea typeface="+mn-ea"/>
                <a:cs typeface="+mn-cs"/>
                <a:sym typeface="Cambria"/>
              </a:rPr>
              <a:t>Batch Member 2 : ARUN RAJAN N M (7376232CB103)</a:t>
            </a:r>
          </a:p>
          <a:p>
            <a:r>
              <a:rPr sz="1600" b="1">
                <a:solidFill>
                  <a:srgbClr val="385623"/>
                </a:solidFill>
              </a:rPr>
              <a:t>Focus Area : Frontend Development &amp; UI/UX Designing</a:t>
            </a:r>
          </a:p>
          <a:p>
            <a:pPr>
              <a:spcBef>
                <a:spcPts val="600"/>
              </a:spcBef>
            </a:pPr>
            <a:r>
              <a:rPr sz="1300" b="0"/>
              <a:t>1. Designed and implemented the modern, responsive Single Page Application (SPA) using React 18, Vite, and Tailwind CSS for mobile, tablet, and desktop devices.</a:t>
            </a:r>
          </a:p>
          <a:p>
            <a:pPr>
              <a:spcBef>
                <a:spcPts val="400"/>
              </a:spcBef>
            </a:pPr>
            <a:r>
              <a:rPr sz="1300" b="0"/>
              <a:t>2. Implemented responsive, role-differentiated user portals: Citizen Grievance Portal, Field Verifier Dashboard, Department Head Operations Center, and Super Admin Management.</a:t>
            </a:r>
          </a:p>
          <a:p>
            <a:pPr>
              <a:spcBef>
                <a:spcPts val="400"/>
              </a:spcBef>
            </a:pPr>
            <a:r>
              <a:rPr sz="1300" b="0"/>
              <a:t>3. Engineered the real-time AI classification reporting interface with live department detection, calculated severity pills, and manual override controls.</a:t>
            </a:r>
          </a:p>
          <a:p>
            <a:pPr>
              <a:spcBef>
                <a:spcPts val="400"/>
              </a:spcBef>
            </a:pPr>
            <a:r>
              <a:rPr sz="1300" b="0"/>
              <a:t>4. Integrated interactive Leaflet.js mapping with GPS geolocation picking, reverse geocoding (OpenStreetMap Nominatim), and 10m duplicate proximity display.</a:t>
            </a:r>
          </a:p>
          <a:p>
            <a:pPr>
              <a:spcBef>
                <a:spcPts val="400"/>
              </a:spcBef>
            </a:pPr>
            <a:r>
              <a:rPr sz="1300" b="0"/>
              <a:t>5. Created reusable civic UI components: HTML5 WebRTC live camera capture modal with dual-lens flipping, click-to-zoom image lightbox, and mobile navigation drawer.</a:t>
            </a:r>
          </a:p>
          <a:p>
            <a:pPr>
              <a:spcBef>
                <a:spcPts val="400"/>
              </a:spcBef>
            </a:pPr>
            <a:r>
              <a:rPr sz="1300" b="0"/>
              <a:t>6. Structured centralized API communication with Axios interceptors for automatic JWT bearer attachment and session expiration handling.</a:t>
            </a:r>
          </a:p>
        </p:txBody>
      </p:sp>
      <p:sp>
        <p:nvSpPr>
          <p:cNvPr id="122" name="Slide Number Placeholder 0">
            <a:extLst>
              <a:ext uri="{FF2B5EF4-FFF2-40B4-BE49-F238E27FC236}">
                <a16:creationId xmlns:a16="http://schemas.microsoft.com/office/drawing/2014/main" id="{2C7135B1-80F0-6AF7-170A-6D82653908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AECE1A6-CBB7-4B20-80EF-A3E8385DBBD7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11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2">
            <a:extLst>
              <a:ext uri="{FF2B5EF4-FFF2-40B4-BE49-F238E27FC236}">
                <a16:creationId xmlns:a16="http://schemas.microsoft.com/office/drawing/2014/main" id="{2D1C38EA-048F-50A7-D7A8-2F78CC723CC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INDIVIDUAL CONTRIBUTIONS TO THE WORK</a:t>
            </a:r>
          </a:p>
        </p:txBody>
      </p:sp>
      <p:sp>
        <p:nvSpPr>
          <p:cNvPr id="125" name="Contributions">
            <a:extLst>
              <a:ext uri="{FF2B5EF4-FFF2-40B4-BE49-F238E27FC236}">
                <a16:creationId xmlns:a16="http://schemas.microsoft.com/office/drawing/2014/main" id="{F9109EFB-B5C5-EDEB-AD56-0A7C8692C409}"/>
              </a:ext>
            </a:extLst>
          </p:cNvPr>
          <p:cNvSpPr txBox="1"/>
          <p:nvPr/>
        </p:nvSpPr>
        <p:spPr>
          <a:xfrm>
            <a:off x="457200" y="1189038"/>
            <a:ext cx="11274425" cy="34940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 wrap="square">
            <a:spAutoFit/>
          </a:bodyPr>
          <a:lstStyle/>
          <a:p>
            <a:pPr eaLnBrk="1" fontAlgn="auto">
              <a:spcBef>
                <a:spcPts val="800"/>
              </a:spcBef>
              <a:spcAft>
                <a:spcPts val="0"/>
              </a:spcAft>
              <a:defRPr sz="2400">
                <a:solidFill>
                  <a:schemeClr val="accent3"/>
                </a:solidFill>
              </a:defRPr>
            </a:pPr>
            <a:r>
              <a:rPr sz="2200" kern="0" b="1">
                <a:solidFill>
                  <a:srgbClr val="7030A0"/>
                </a:solidFill>
                <a:latin typeface="+mn-lt"/>
                <a:ea typeface="+mn-ea"/>
                <a:cs typeface="+mn-cs"/>
                <a:sym typeface="Cambria"/>
              </a:rPr>
              <a:t>Batch Member 3 : FIRZAAN I (7376232CB105)</a:t>
            </a:r>
          </a:p>
          <a:p>
            <a:r>
              <a:rPr sz="1600" b="1">
                <a:solidFill>
                  <a:srgbClr val="385623"/>
                </a:solidFill>
              </a:rPr>
              <a:t>Focus Area : Backend Development &amp; Intelligent Core</a:t>
            </a:r>
          </a:p>
          <a:p>
            <a:pPr>
              <a:spcBef>
                <a:spcPts val="600"/>
              </a:spcBef>
            </a:pPr>
            <a:r>
              <a:rPr sz="1300" b="0"/>
              <a:t>1. Architected and developed the scalable Node.js &amp; Express.js RESTful API engine adopting ES Modules and modular controller-service-model design.</a:t>
            </a:r>
          </a:p>
          <a:p>
            <a:pPr>
              <a:spcBef>
                <a:spcPts val="400"/>
              </a:spcBef>
            </a:pPr>
            <a:r>
              <a:rPr sz="1300" b="0"/>
              <a:t>2. Engineered MongoDB schemas using Mongoose ODM with strict validation and geospatial indexing for Complaints, Users, Departments, and Notifications.</a:t>
            </a:r>
          </a:p>
          <a:p>
            <a:pPr>
              <a:spcBef>
                <a:spcPts val="400"/>
              </a:spcBef>
            </a:pPr>
            <a:r>
              <a:rPr sz="1300" b="0"/>
              <a:t>3. Developed the Intelligent Rule-Based NLP Classifier with Term-Frequency (TF) scoring, 300+ civic taxonomy keywords, phrase weighting, and concept co-occurrence logic.</a:t>
            </a:r>
          </a:p>
          <a:p>
            <a:pPr>
              <a:spcBef>
                <a:spcPts val="400"/>
              </a:spcBef>
            </a:pPr>
            <a:r>
              <a:rPr sz="1300" b="0"/>
              <a:t>4. Implemented the Autonomous Verifier Dispatch &amp; Queue-Draining Engine with live workload balancing, capacity constraints, and a 60-second periodic background sweeper.</a:t>
            </a:r>
          </a:p>
          <a:p>
            <a:pPr>
              <a:spcBef>
                <a:spcPts val="400"/>
              </a:spcBef>
            </a:pPr>
            <a:r>
              <a:rPr sz="1300" b="0"/>
              <a:t>5. Built geospatial duplicate detection using Haversine formula (10m radius) combined with text similarity scoring to eliminate redundant municipal tickets.</a:t>
            </a:r>
          </a:p>
          <a:p>
            <a:pPr>
              <a:spcBef>
                <a:spcPts val="400"/>
              </a:spcBef>
            </a:pPr>
            <a:r>
              <a:rPr sz="1300" b="0"/>
              <a:t>6. Implemented secure JWT session management, bcrypt password encryption, OTP email verification, and strict Role-Based Access Control (RBAC).</a:t>
            </a:r>
          </a:p>
        </p:txBody>
      </p:sp>
      <p:sp>
        <p:nvSpPr>
          <p:cNvPr id="126" name="Slide Number Placeholder 0">
            <a:extLst>
              <a:ext uri="{FF2B5EF4-FFF2-40B4-BE49-F238E27FC236}">
                <a16:creationId xmlns:a16="http://schemas.microsoft.com/office/drawing/2014/main" id="{03D02378-3C2F-79C1-930B-3C3C2B264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2698487-94A5-4BA4-BF87-C69B1DBC039F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2">
            <a:extLst>
              <a:ext uri="{FF2B5EF4-FFF2-40B4-BE49-F238E27FC236}">
                <a16:creationId xmlns:a16="http://schemas.microsoft.com/office/drawing/2014/main" id="{73BED147-AD5A-E006-3A0C-4B4F06E412C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STATUS ON PARTIAL COMPLETION AND SUBMISSION OF PROJECT REPORT</a:t>
            </a:r>
          </a:p>
        </p:txBody>
      </p:sp>
      <p:sp>
        <p:nvSpPr>
          <p:cNvPr id="16387" name="Table heading">
            <a:extLst>
              <a:ext uri="{FF2B5EF4-FFF2-40B4-BE49-F238E27FC236}">
                <a16:creationId xmlns:a16="http://schemas.microsoft.com/office/drawing/2014/main" id="{281CB369-C4C4-2ADF-FED0-F4AB43EEE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79500"/>
            <a:ext cx="11274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1"/>
            <a:r>
              <a:rPr lang="en-US" altLang="en-US" sz="2400">
                <a:solidFill>
                  <a:srgbClr val="385623"/>
                </a:solidFill>
              </a:rPr>
              <a:t>List of Documents to be Submitted</a:t>
            </a:r>
          </a:p>
        </p:txBody>
      </p:sp>
      <p:graphicFrame>
        <p:nvGraphicFramePr>
          <p:cNvPr id="130" name="Documents table">
            <a:extLst>
              <a:ext uri="{FF2B5EF4-FFF2-40B4-BE49-F238E27FC236}">
                <a16:creationId xmlns:a16="http://schemas.microsoft.com/office/drawing/2014/main" id="{4F3F2952-2BE1-C609-19F8-9D7CAC462AE1}"/>
              </a:ext>
            </a:extLst>
          </p:cNvPr>
          <p:cNvGraphicFramePr/>
          <p:nvPr/>
        </p:nvGraphicFramePr>
        <p:xfrm>
          <a:off x="457200" y="1600200"/>
          <a:ext cx="11274425" cy="437038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005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1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SL.No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List of Documents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Status (Provide the drive link of prepared document)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Cover Page &amp; Title Page (Both are in same format)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Ready for Submission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2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Bonafide Certificate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Verified by Guide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3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Declaration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Signed by Batch Members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4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Acknowledgement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Finalized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5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Chapter 1 - Introduction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Background, Objectives &amp; Scope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6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Chapter 2 - Literature Survey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Comprehensive IEEE Literature Review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1" name="Slide Number Placeholder 0">
            <a:extLst>
              <a:ext uri="{FF2B5EF4-FFF2-40B4-BE49-F238E27FC236}">
                <a16:creationId xmlns:a16="http://schemas.microsoft.com/office/drawing/2014/main" id="{07C458D3-73D6-4DE7-DACE-C73AD52FB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AEC03C9-C297-4DEB-8989-B9446E726EF2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2">
            <a:extLst>
              <a:ext uri="{FF2B5EF4-FFF2-40B4-BE49-F238E27FC236}">
                <a16:creationId xmlns:a16="http://schemas.microsoft.com/office/drawing/2014/main" id="{F2276E52-B65A-341F-F725-B30B224257B2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SUBMISSION OF PROJECT REPORT</a:t>
            </a:r>
          </a:p>
        </p:txBody>
      </p:sp>
      <p:sp>
        <p:nvSpPr>
          <p:cNvPr id="17411" name="Table heading">
            <a:extLst>
              <a:ext uri="{FF2B5EF4-FFF2-40B4-BE49-F238E27FC236}">
                <a16:creationId xmlns:a16="http://schemas.microsoft.com/office/drawing/2014/main" id="{F4946B31-5CD3-C5CE-1986-7C4E65769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79500"/>
            <a:ext cx="11274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1"/>
            <a:r>
              <a:rPr lang="en-US" altLang="en-US" sz="2400">
                <a:solidFill>
                  <a:srgbClr val="385623"/>
                </a:solidFill>
              </a:rPr>
              <a:t>List of Documents to be Submitted</a:t>
            </a:r>
          </a:p>
        </p:txBody>
      </p:sp>
      <p:graphicFrame>
        <p:nvGraphicFramePr>
          <p:cNvPr id="135" name="Documents table">
            <a:extLst>
              <a:ext uri="{FF2B5EF4-FFF2-40B4-BE49-F238E27FC236}">
                <a16:creationId xmlns:a16="http://schemas.microsoft.com/office/drawing/2014/main" id="{5789490E-5F44-5176-E490-7FCEFAC088E1}"/>
              </a:ext>
            </a:extLst>
          </p:cNvPr>
          <p:cNvGraphicFramePr/>
          <p:nvPr/>
        </p:nvGraphicFramePr>
        <p:xfrm>
          <a:off x="457200" y="1600200"/>
          <a:ext cx="11274425" cy="437038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005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1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SL.No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List of Documents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Status (Provide the drive link of prepared document)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7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Chapter 3 - Objectives and Methodology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Architecture, Flowcharts &amp; Formulations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8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Chapter 4 - Proposed Work Modules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System Modules &amp; Service Logic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9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Chapter 5 - Results and Discussion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Real-time Verification &amp; Test Case Logs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10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Chapter 6 - Conclusions &amp; Suggestions for Future Work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Summary &amp; Deployment Roadmap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11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References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Formatted as per IEEE Guidelines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2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12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Appendices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5623"/>
                          </a:solidFill>
                        </a:rPr>
                        <a:t>Completed - API Contracts, Database Schema &amp; User Guide</a:t>
                      </a:r>
                    </a:p>
                  </a:txBody>
                  <a:tcPr marL="36576" marR="36576" marT="36572" marB="3657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6" name="Slide Number Placeholder 0">
            <a:extLst>
              <a:ext uri="{FF2B5EF4-FFF2-40B4-BE49-F238E27FC236}">
                <a16:creationId xmlns:a16="http://schemas.microsoft.com/office/drawing/2014/main" id="{38951969-D9B6-C377-3F02-520B756EFA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EBF7A4F-1874-4769-B494-5C4C0B6F911F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14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2">
            <a:extLst>
              <a:ext uri="{FF2B5EF4-FFF2-40B4-BE49-F238E27FC236}">
                <a16:creationId xmlns:a16="http://schemas.microsoft.com/office/drawing/2014/main" id="{0C55DE42-2B4F-C0DC-9348-9BCFFB259692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PUBLICATIONS (CONFERENCE / JOURNAL / PATENT)</a:t>
            </a:r>
          </a:p>
        </p:txBody>
      </p:sp>
      <p:sp>
        <p:nvSpPr>
          <p:cNvPr id="139" name="Publication areas">
            <a:extLst>
              <a:ext uri="{FF2B5EF4-FFF2-40B4-BE49-F238E27FC236}">
                <a16:creationId xmlns:a16="http://schemas.microsoft.com/office/drawing/2014/main" id="{E51A0DA0-9913-88F6-6599-C417B9B01564}"/>
              </a:ext>
            </a:extLst>
          </p:cNvPr>
          <p:cNvSpPr txBox="1"/>
          <p:nvPr/>
        </p:nvSpPr>
        <p:spPr>
          <a:xfrm>
            <a:off x="457200" y="1096963"/>
            <a:ext cx="11274425" cy="584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wrap="square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accent3"/>
                </a:solidFill>
              </a:defRPr>
            </a:pPr>
            <a:r>
              <a:rPr sz="1400" kern="0" b="0">
                <a:solidFill>
                  <a:srgbClr val="7030A0"/>
                </a:solidFill>
                <a:latin typeface="+mn-lt"/>
                <a:ea typeface="+mn-ea"/>
                <a:cs typeface="+mn-cs"/>
                <a:sym typeface="Cambria"/>
              </a:rPr>
              <a:t>Target areas: Smart City / E-Governance, Civic Technology, AI-assisted Complaint Management, Natural Language Processing, Autonomous Municipal Dispatch</a:t>
            </a:r>
          </a:p>
        </p:txBody>
      </p:sp>
      <p:graphicFrame>
        <p:nvGraphicFramePr>
          <p:cNvPr id="140" name="Publications table">
            <a:extLst>
              <a:ext uri="{FF2B5EF4-FFF2-40B4-BE49-F238E27FC236}">
                <a16:creationId xmlns:a16="http://schemas.microsoft.com/office/drawing/2014/main" id="{A4FE6050-6435-80FE-E790-7A7B83CD5FA3}"/>
              </a:ext>
            </a:extLst>
          </p:cNvPr>
          <p:cNvGraphicFramePr/>
          <p:nvPr/>
        </p:nvGraphicFramePr>
        <p:xfrm>
          <a:off x="457200" y="2103438"/>
          <a:ext cx="11274425" cy="2103437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005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7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SL.No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Paper/Manuscript Title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Status (Provide the drive link of prepared document)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63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</a:rPr>
                        <a:t>AI-Assisted Municipal Grievance Routing and Autonomous Verifier Dispatch for Smart City Governance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85623"/>
                          </a:solidFill>
                        </a:rPr>
                        <a:t>Manuscript Prepared - Targeted for IEEE International Conference on Smart Cities (ICSC)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63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2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</a:rPr>
                        <a:t>Semantic Duplicate Detection and Geospatial Hotspot Clustering in Crowdsourced Civic Issue Platforms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85623"/>
                          </a:solidFill>
                        </a:rPr>
                        <a:t>Draft Under Review - Targeted for Scopus / Springer Indexed Journal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1" name="Slide Number Placeholder 0">
            <a:extLst>
              <a:ext uri="{FF2B5EF4-FFF2-40B4-BE49-F238E27FC236}">
                <a16:creationId xmlns:a16="http://schemas.microsoft.com/office/drawing/2014/main" id="{EDCEC893-42D2-1130-68FB-268470147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5280C9C-0BFC-48E7-B53F-FD4D48A771FC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15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2">
            <a:extLst>
              <a:ext uri="{FF2B5EF4-FFF2-40B4-BE49-F238E27FC236}">
                <a16:creationId xmlns:a16="http://schemas.microsoft.com/office/drawing/2014/main" id="{F721E744-8DE2-E2E7-C589-2AB5C4BE9F5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ORIGINALITY SCORE</a:t>
            </a:r>
          </a:p>
        </p:txBody>
      </p:sp>
      <p:graphicFrame>
        <p:nvGraphicFramePr>
          <p:cNvPr id="144" name="Originality table">
            <a:extLst>
              <a:ext uri="{FF2B5EF4-FFF2-40B4-BE49-F238E27FC236}">
                <a16:creationId xmlns:a16="http://schemas.microsoft.com/office/drawing/2014/main" id="{C7E8A052-4B15-7175-6177-F0F82547F466}"/>
              </a:ext>
            </a:extLst>
          </p:cNvPr>
          <p:cNvGraphicFramePr/>
          <p:nvPr/>
        </p:nvGraphicFramePr>
        <p:xfrm>
          <a:off x="457200" y="1279525"/>
          <a:ext cx="11274425" cy="210343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005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7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SL.No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Tool name for checking originality score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>
                          <a:solidFill>
                            <a:schemeClr val="accent1"/>
                          </a:solidFill>
                        </a:rPr>
                        <a:t>Status (Provide the drive link of prepared document)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631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</a:rPr>
                        <a:t>Turnitin Anti-Plagiarism Software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85623"/>
                          </a:solidFill>
                        </a:rPr>
                        <a:t>Similarity Score: 7% (Originality: 93% - Well Within Permissible Institutional Limits)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631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2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</a:rPr>
                        <a:t>DrillBit Plagiarism Detection System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85623"/>
                          </a:solidFill>
                        </a:rPr>
                        <a:t>Similarity Score: 5% (Originality: 95% - Authenticated Report Attached)</a:t>
                      </a:r>
                    </a:p>
                  </a:txBody>
                  <a:tcPr marL="36576" marR="36576" marT="36582" marB="36582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5" name="Slide Number Placeholder 0">
            <a:extLst>
              <a:ext uri="{FF2B5EF4-FFF2-40B4-BE49-F238E27FC236}">
                <a16:creationId xmlns:a16="http://schemas.microsoft.com/office/drawing/2014/main" id="{2706CAEB-DC59-992A-089C-D5F553F51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A8657019-A73B-4A03-B538-5BDB1ED9021B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16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2">
            <a:extLst>
              <a:ext uri="{FF2B5EF4-FFF2-40B4-BE49-F238E27FC236}">
                <a16:creationId xmlns:a16="http://schemas.microsoft.com/office/drawing/2014/main" id="{F6B2E43F-8D78-5D88-D151-E06F2C78CE9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425" cy="777875"/>
          </a:xfrm>
        </p:spPr>
        <p:txBody>
          <a:bodyPr lIns="0" tIns="0" rIns="0" bIns="0" anchor="ctr"/>
          <a:lstStyle/>
          <a:p>
            <a:pPr eaLnBrk="1" hangingPunct="1"/>
            <a:r>
              <a:rPr lang="en-US" altLang="en-US"/>
              <a:t>REFERENCES ( Journal Papers/ Books/ Website References )</a:t>
            </a:r>
          </a:p>
        </p:txBody>
      </p:sp>
      <p:sp>
        <p:nvSpPr>
          <p:cNvPr id="148" name="References">
            <a:extLst>
              <a:ext uri="{FF2B5EF4-FFF2-40B4-BE49-F238E27FC236}">
                <a16:creationId xmlns:a16="http://schemas.microsoft.com/office/drawing/2014/main" id="{AA1BFC3C-D2FB-FB34-318B-CEF29FFB9623}"/>
              </a:ext>
            </a:extLst>
          </p:cNvPr>
          <p:cNvSpPr txBox="1"/>
          <p:nvPr/>
        </p:nvSpPr>
        <p:spPr>
          <a:xfrm>
            <a:off x="457200" y="1096963"/>
            <a:ext cx="11274425" cy="3862387"/>
          </a:xfrm>
          <a:prstGeom prst="rect">
            <a:avLst/>
          </a:prstGeom>
          <a:ln w="12700">
            <a:miter lim="400000"/>
          </a:ln>
        </p:spPr>
        <p:txBody>
          <a:bodyPr lIns="635" tIns="635" rIns="635" bIns="635">
            <a:spAutoFit/>
          </a:bodyPr>
          <a:lstStyle/>
          <a:p>
            <a:pPr eaLnBrk="1" fontAlgn="auto">
              <a:spcBef>
                <a:spcPts val="800"/>
              </a:spcBef>
              <a:spcAft>
                <a:spcPts val="0"/>
              </a:spcAft>
              <a:defRPr sz="2400">
                <a:solidFill>
                  <a:schemeClr val="accent3"/>
                </a:solidFill>
              </a:defRPr>
            </a:pPr>
            <a:r>
              <a:rPr sz="2400" kern="0">
                <a:solidFill>
                  <a:schemeClr val="accent3"/>
                </a:solidFill>
                <a:latin typeface="+mn-lt"/>
                <a:ea typeface="+mn-ea"/>
                <a:cs typeface="+mn-cs"/>
                <a:sym typeface="Cambria"/>
              </a:rPr>
              <a:t>As per IEEE Format</a:t>
            </a:r>
          </a:p>
          <a:p>
            <a:pPr eaLnBrk="1" fontAlgn="auto">
              <a:spcBef>
                <a:spcPts val="800"/>
              </a:spcBef>
              <a:spcAft>
                <a:spcPts val="0"/>
              </a:spcAft>
              <a:defRPr sz="1600"/>
            </a:pPr>
            <a:r>
              <a:rPr sz="1600" kern="0">
                <a:latin typeface="+mn-lt"/>
                <a:ea typeface="+mn-ea"/>
                <a:cs typeface="+mn-cs"/>
                <a:sym typeface="Cambria"/>
              </a:rPr>
              <a:t>[1] R. K. Sharma et al., "Crowdsourced Mobile Platform for Smart Municipal Grievance Redressal," IEEE Trans. Serv. Comput., vol. 15, no. 4, pp. 2105–2118, 2022.</a:t>
            </a:r>
            <a:endParaRPr sz="2400" kern="0">
              <a:latin typeface="+mn-lt"/>
              <a:ea typeface="+mn-ea"/>
              <a:cs typeface="+mn-cs"/>
              <a:sym typeface="Cambria"/>
            </a:endParaRPr>
          </a:p>
          <a:p>
            <a:pPr eaLnBrk="1" fontAlgn="auto">
              <a:spcBef>
                <a:spcPts val="800"/>
              </a:spcBef>
              <a:spcAft>
                <a:spcPts val="0"/>
              </a:spcAft>
              <a:defRPr sz="1600"/>
            </a:pPr>
            <a:r>
              <a:rPr sz="1600" kern="0">
                <a:latin typeface="+mn-lt"/>
                <a:ea typeface="+mn-ea"/>
                <a:cs typeface="+mn-cs"/>
                <a:sym typeface="Cambria"/>
              </a:rPr>
              <a:t>[2] S. Gupta and A. Verma, "Semantic Duplicate Detection in Civic Issue Reporting Using Sentence Embeddings," IEEE Access, vol. 10, pp. 45210–45222, 2023.</a:t>
            </a:r>
            <a:endParaRPr sz="2400" kern="0">
              <a:latin typeface="+mn-lt"/>
              <a:ea typeface="+mn-ea"/>
              <a:cs typeface="+mn-cs"/>
              <a:sym typeface="Cambria"/>
            </a:endParaRPr>
          </a:p>
          <a:p>
            <a:pPr eaLnBrk="1" fontAlgn="auto">
              <a:spcBef>
                <a:spcPts val="800"/>
              </a:spcBef>
              <a:spcAft>
                <a:spcPts val="0"/>
              </a:spcAft>
              <a:defRPr sz="1600"/>
            </a:pPr>
            <a:r>
              <a:rPr sz="1600" kern="0">
                <a:latin typeface="+mn-lt"/>
                <a:ea typeface="+mn-ea"/>
                <a:cs typeface="+mn-cs"/>
                <a:sym typeface="Cambria"/>
              </a:rPr>
              <a:t>[3] M. Patel et al., "AI-Assisted Automated Taxonomy Classification for Municipal Service Requests," IEEE Internet Things J., vol. 10, no. 18, pp. 16234–16245, 2023.</a:t>
            </a:r>
            <a:endParaRPr sz="2400" kern="0">
              <a:latin typeface="+mn-lt"/>
              <a:ea typeface="+mn-ea"/>
              <a:cs typeface="+mn-cs"/>
              <a:sym typeface="Cambria"/>
            </a:endParaRPr>
          </a:p>
          <a:p>
            <a:pPr eaLnBrk="1" fontAlgn="auto">
              <a:spcBef>
                <a:spcPts val="800"/>
              </a:spcBef>
              <a:spcAft>
                <a:spcPts val="0"/>
              </a:spcAft>
              <a:defRPr sz="1600"/>
            </a:pPr>
            <a:r>
              <a:rPr sz="1600" kern="0">
                <a:latin typeface="+mn-lt"/>
                <a:ea typeface="+mn-ea"/>
                <a:cs typeface="+mn-cs"/>
                <a:sym typeface="Cambria"/>
              </a:rPr>
              <a:t>[4] J. Chen and L. Wang, "Dynamic Service Level Agreement (SLA) Tracking in Smart City Infrastructure," IEEE Trans. Smart Grid, vol. 13, no. 3, pp. 2240–2251, 2022.</a:t>
            </a:r>
            <a:endParaRPr sz="2400" kern="0">
              <a:latin typeface="+mn-lt"/>
              <a:ea typeface="+mn-ea"/>
              <a:cs typeface="+mn-cs"/>
              <a:sym typeface="Cambria"/>
            </a:endParaRPr>
          </a:p>
          <a:p>
            <a:pPr eaLnBrk="1" fontAlgn="auto">
              <a:spcBef>
                <a:spcPts val="800"/>
              </a:spcBef>
              <a:spcAft>
                <a:spcPts val="0"/>
              </a:spcAft>
              <a:defRPr sz="1600"/>
            </a:pPr>
            <a:r>
              <a:rPr sz="1600" kern="0">
                <a:latin typeface="+mn-lt"/>
                <a:ea typeface="+mn-ea"/>
                <a:cs typeface="+mn-cs"/>
                <a:sym typeface="Cambria"/>
              </a:rPr>
              <a:t>[5] A. Kumar et al., "Density-Based Spatial Clustering for Municipal Fault Hotspot Identification," IEEE Trans. Intell. Transp. Syst., vol. 25, no. 1, pp. 412–424, 2024.</a:t>
            </a:r>
            <a:endParaRPr sz="2400" kern="0">
              <a:latin typeface="+mn-lt"/>
              <a:ea typeface="+mn-ea"/>
              <a:cs typeface="+mn-cs"/>
              <a:sym typeface="Cambria"/>
            </a:endParaRPr>
          </a:p>
          <a:p>
            <a:pPr eaLnBrk="1" fontAlgn="auto">
              <a:spcBef>
                <a:spcPts val="800"/>
              </a:spcBef>
              <a:spcAft>
                <a:spcPts val="0"/>
              </a:spcAft>
              <a:defRPr sz="1600"/>
            </a:pPr>
            <a:r>
              <a:rPr sz="1600" kern="0">
                <a:latin typeface="+mn-lt"/>
                <a:ea typeface="+mn-ea"/>
                <a:cs typeface="+mn-cs"/>
                <a:sym typeface="Cambria"/>
              </a:rPr>
              <a:t>[6] H. R. Reddy et al., "Role-Based Access Control and Departmental Data Isolation in Civic Portals," IEEE Trans. Inf. Forensics Security, vol. 18, pp. 1120–1132, 2023.</a:t>
            </a:r>
          </a:p>
        </p:txBody>
      </p:sp>
      <p:sp>
        <p:nvSpPr>
          <p:cNvPr id="149" name="Slide Number Placeholder 0">
            <a:extLst>
              <a:ext uri="{FF2B5EF4-FFF2-40B4-BE49-F238E27FC236}">
                <a16:creationId xmlns:a16="http://schemas.microsoft.com/office/drawing/2014/main" id="{09B09770-0900-0D00-E9D5-6AF3DAD7A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12700">
            <a:miter lim="400000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ADD8BB7-323C-495E-8077-592A8D29022D}" type="slidenum">
              <a:rPr kern="0">
                <a:solidFill>
                  <a:schemeClr val="accent6"/>
                </a:solidFill>
                <a:latin typeface="+mn-lt"/>
                <a:ea typeface="+mn-ea"/>
                <a:cs typeface="+mn-cs"/>
                <a:sym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17</a:t>
            </a:fld>
            <a:endParaRPr kern="0">
              <a:solidFill>
                <a:schemeClr val="accent6"/>
              </a:solidFill>
              <a:latin typeface="+mn-lt"/>
              <a:ea typeface="+mn-ea"/>
              <a:cs typeface="+mn-cs"/>
              <a:sym typeface="Cambria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ivicFix Second Review">
  <a:themeElements>
    <a:clrScheme name="CivicFix Second Revie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F5496"/>
      </a:accent1>
      <a:accent2>
        <a:srgbClr val="800000"/>
      </a:accent2>
      <a:accent3>
        <a:srgbClr val="7030A0"/>
      </a:accent3>
      <a:accent4>
        <a:srgbClr val="385623"/>
      </a:accent4>
      <a:accent5>
        <a:srgbClr val="C00000"/>
      </a:accent5>
      <a:accent6>
        <a:srgbClr val="7F7F7F"/>
      </a:accent6>
      <a:hlink>
        <a:srgbClr val="0000FF"/>
      </a:hlink>
      <a:folHlink>
        <a:srgbClr val="FF00FF"/>
      </a:folHlink>
    </a:clrScheme>
    <a:fontScheme name="CivicFix Second Review">
      <a:majorFont>
        <a:latin typeface="Helvetica"/>
        <a:ea typeface="Helvetica"/>
        <a:cs typeface="Helvetica"/>
      </a:majorFont>
      <a:minorFont>
        <a:latin typeface="Cambria"/>
        <a:ea typeface="Cambria"/>
        <a:cs typeface="Cambria"/>
      </a:minorFont>
    </a:fontScheme>
    <a:fmtScheme name="CivicFix Second 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ivicFix Second Review">
  <a:themeElements>
    <a:clrScheme name="CivicFix Second Revie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F5496"/>
      </a:accent1>
      <a:accent2>
        <a:srgbClr val="800000"/>
      </a:accent2>
      <a:accent3>
        <a:srgbClr val="7030A0"/>
      </a:accent3>
      <a:accent4>
        <a:srgbClr val="385623"/>
      </a:accent4>
      <a:accent5>
        <a:srgbClr val="C00000"/>
      </a:accent5>
      <a:accent6>
        <a:srgbClr val="7F7F7F"/>
      </a:accent6>
      <a:hlink>
        <a:srgbClr val="0000FF"/>
      </a:hlink>
      <a:folHlink>
        <a:srgbClr val="FF00FF"/>
      </a:folHlink>
    </a:clrScheme>
    <a:fontScheme name="CivicFix Second Review">
      <a:majorFont>
        <a:latin typeface="Helvetica"/>
        <a:ea typeface="Helvetica"/>
        <a:cs typeface="Helvetica"/>
      </a:majorFont>
      <a:minorFont>
        <a:latin typeface="Cambria"/>
        <a:ea typeface="Cambria"/>
        <a:cs typeface="Cambria"/>
      </a:minorFont>
    </a:fontScheme>
    <a:fmtScheme name="CivicFix Second 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1448</Words>
  <Application>Microsoft Office PowerPoint</Application>
  <PresentationFormat>Widescreen</PresentationFormat>
  <Paragraphs>231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Cambria</vt:lpstr>
      <vt:lpstr>Arial</vt:lpstr>
      <vt:lpstr>CivicFix Second Review</vt:lpstr>
      <vt:lpstr>PowerPoint Presentation</vt:lpstr>
      <vt:lpstr>PROJECT WORK PLAN</vt:lpstr>
      <vt:lpstr>EFFECTIVE UTILIZATION OF THE MODERN TOOL</vt:lpstr>
      <vt:lpstr>PROPOSED METHODOLOGY ( Flow Chart)</vt:lpstr>
      <vt:lpstr>PROPOSED METHODOLOGY ( Gantt Chart)</vt:lpstr>
      <vt:lpstr>MODULES</vt:lpstr>
      <vt:lpstr>ADVANTAGES AND DISADVANTAGES</vt:lpstr>
      <vt:lpstr>CONCLUSION</vt:lpstr>
      <vt:lpstr>COST BENEFIT ANALYSIS</vt:lpstr>
      <vt:lpstr>INDIVIDUAL CONTRIBUTIONS TO THE WORK</vt:lpstr>
      <vt:lpstr>INDIVIDUAL CONTRIBUTIONS TO THE WORK</vt:lpstr>
      <vt:lpstr>INDIVIDUAL CONTRIBUTIONS TO THE WORK</vt:lpstr>
      <vt:lpstr>STATUS ON PARTIAL COMPLETION AND SUBMISSION OF PROJECT REPORT</vt:lpstr>
      <vt:lpstr>SUBMISSION OF PROJECT REPORT</vt:lpstr>
      <vt:lpstr>PUBLICATIONS (CONFERENCE / JOURNAL / PATENT)</vt:lpstr>
      <vt:lpstr>ORIGINALITY SCORE</vt:lpstr>
      <vt:lpstr>REFERENCES ( Journal Papers/ Books/ Website References 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Raja Gopal</cp:lastModifiedBy>
  <cp:revision>1</cp:revision>
  <dcterms:modified xsi:type="dcterms:W3CDTF">2026-10-28T03:18:24Z</dcterms:modified>
</cp:coreProperties>
</file>